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4" r:id="rId1"/>
  </p:sldMasterIdLst>
  <p:notesMasterIdLst>
    <p:notesMasterId r:id="rId15"/>
  </p:notesMasterIdLst>
  <p:sldIdLst>
    <p:sldId id="256" r:id="rId2"/>
    <p:sldId id="418" r:id="rId3"/>
    <p:sldId id="257" r:id="rId4"/>
    <p:sldId id="259" r:id="rId5"/>
    <p:sldId id="260" r:id="rId6"/>
    <p:sldId id="261" r:id="rId7"/>
    <p:sldId id="262" r:id="rId8"/>
    <p:sldId id="420" r:id="rId9"/>
    <p:sldId id="421" r:id="rId10"/>
    <p:sldId id="422" r:id="rId11"/>
    <p:sldId id="423" r:id="rId12"/>
    <p:sldId id="267" r:id="rId13"/>
    <p:sldId id="274" r:id="rId14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osé Angel Bañares Bañares" initials="JABB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1641" autoAdjust="0"/>
  </p:normalViewPr>
  <p:slideViewPr>
    <p:cSldViewPr snapToGrid="0" snapToObjects="1">
      <p:cViewPr>
        <p:scale>
          <a:sx n="86" d="100"/>
          <a:sy n="86" d="100"/>
        </p:scale>
        <p:origin x="720" y="-704"/>
      </p:cViewPr>
      <p:guideLst>
        <p:guide orient="horz" pos="2183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97" d="100"/>
          <a:sy n="97" d="100"/>
        </p:scale>
        <p:origin x="368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2C0401-C547-6B40-906F-0A178EDB9A24}" type="datetimeFigureOut">
              <a:rPr lang="es-ES_tradnl" smtClean="0"/>
              <a:pPr/>
              <a:t>28/05/2026</a:t>
            </a:fld>
            <a:endParaRPr lang="en-GB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F8392A-FBA3-0949-9D3C-544774A2C727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6858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8392A-FBA3-0949-9D3C-544774A2C727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3773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86953" y="268288"/>
            <a:ext cx="5669280" cy="3900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68940" y="268290"/>
            <a:ext cx="182880" cy="388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00400" y="4208929"/>
            <a:ext cx="5458968" cy="1048684"/>
          </a:xfr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/>
              <a:t>Clic para editar título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0" y="5257800"/>
            <a:ext cx="5458968" cy="62179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Clr>
                <a:schemeClr val="accent1"/>
              </a:buClr>
              <a:buSzPct val="100000"/>
              <a:buFont typeface="Wingdings 2" pitchFamily="18" charset="2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76600" y="390527"/>
            <a:ext cx="5504688" cy="365125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2200" b="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211D454-A893-5E4D-9D8B-185D411D2F66}" type="datetimeFigureOut">
              <a:rPr lang="es-ES_tradnl" smtClean="0"/>
              <a:pPr/>
              <a:t>28/05/2026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18688" y="6356352"/>
            <a:ext cx="4736592" cy="365125"/>
          </a:xfr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6494" y="6356352"/>
            <a:ext cx="685800" cy="365125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CB7CC652-A623-41D2-B0ED-8F1D217186B4}" type="slidenum">
              <a:rPr lang="es-ES_tradnl" smtClean="0"/>
              <a:pPr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12106" y="6356352"/>
            <a:ext cx="1752600" cy="365125"/>
          </a:xfrm>
        </p:spPr>
        <p:txBody>
          <a:bodyPr/>
          <a:lstStyle/>
          <a:p>
            <a:fld id="{F211D454-A893-5E4D-9D8B-185D411D2F66}" type="datetimeFigureOut">
              <a:rPr lang="es-ES_tradnl" smtClean="0"/>
              <a:pPr/>
              <a:t>28/05/2026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F6E6C0E6-1DFE-6846-9372-C9A94349DBDD}" type="slidenum">
              <a:rPr lang="en-GB" smtClean="0"/>
              <a:pPr/>
              <a:t>‹Nº›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 con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86953" y="268288"/>
            <a:ext cx="5669280" cy="2560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00399" y="4171950"/>
            <a:ext cx="5457919" cy="1085850"/>
          </a:xfrm>
        </p:spPr>
        <p:txBody>
          <a:bodyPr>
            <a:normAutofit/>
          </a:bodyPr>
          <a:lstStyle>
            <a:lvl1pPr>
              <a:defRPr sz="4600"/>
            </a:lvl1pPr>
          </a:lstStyle>
          <a:p>
            <a:r>
              <a:rPr lang="es-ES_tradnl"/>
              <a:t>Clic para editar título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2" y="5257801"/>
            <a:ext cx="5457918" cy="618565"/>
          </a:xfrm>
        </p:spPr>
        <p:txBody>
          <a:bodyPr>
            <a:normAutofit/>
          </a:bodyPr>
          <a:lstStyle>
            <a:lvl1pPr marL="0" indent="0" algn="l">
              <a:spcBef>
                <a:spcPct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spcBef>
                <a:spcPct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76600" y="389967"/>
            <a:ext cx="5499847" cy="365125"/>
          </a:xfrm>
        </p:spPr>
        <p:txBody>
          <a:bodyPr/>
          <a:lstStyle>
            <a:lvl1pPr>
              <a:defRPr sz="2200" b="0" baseline="0">
                <a:solidFill>
                  <a:schemeClr val="bg1"/>
                </a:solidFill>
              </a:defRPr>
            </a:lvl1pPr>
          </a:lstStyle>
          <a:p>
            <a:fld id="{F211D454-A893-5E4D-9D8B-185D411D2F66}" type="datetimeFigureOut">
              <a:rPr lang="es-ES_tradnl" smtClean="0"/>
              <a:pPr/>
              <a:t>28/05/2026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13848" y="6356352"/>
            <a:ext cx="473411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65459" y="6356352"/>
            <a:ext cx="685800" cy="365125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D9105310-0F44-0745-8481-186CA4789E4B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3200401" y="2877671"/>
            <a:ext cx="5646867" cy="128016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s-ES_tradnl"/>
              <a:t>Haga clic en el icono para agregar una imagen</a:t>
            </a:r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68940" y="268290"/>
            <a:ext cx="182880" cy="388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, objetos e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69875" y="268288"/>
            <a:ext cx="1645920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8424" y="914400"/>
            <a:ext cx="6508377" cy="1143000"/>
          </a:xfrm>
        </p:spPr>
        <p:txBody>
          <a:bodyPr/>
          <a:lstStyle/>
          <a:p>
            <a:r>
              <a:rPr lang="es-ES_tradnl"/>
              <a:t>Clic para editar título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8424" y="2209802"/>
            <a:ext cx="6508377" cy="3916363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12106" y="6356352"/>
            <a:ext cx="1752600" cy="365125"/>
          </a:xfrm>
        </p:spPr>
        <p:txBody>
          <a:bodyPr/>
          <a:lstStyle/>
          <a:p>
            <a:fld id="{F211D454-A893-5E4D-9D8B-185D411D2F66}" type="datetimeFigureOut">
              <a:rPr lang="es-ES_tradnl" smtClean="0"/>
              <a:pPr/>
              <a:t>28/05/2026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78423" y="6356352"/>
            <a:ext cx="492685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31694" y="361018"/>
            <a:ext cx="506506" cy="365125"/>
          </a:xfrm>
        </p:spPr>
        <p:txBody>
          <a:bodyPr/>
          <a:lstStyle/>
          <a:p>
            <a:fld id="{D9105310-0F44-0745-8481-186CA4789E4B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269875" y="1976718"/>
            <a:ext cx="1645920" cy="46257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s-ES_tradnl"/>
              <a:t>Haga clic en el icono para agregar una imagen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758952" y="268288"/>
            <a:ext cx="1099073" cy="635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2" y="3429000"/>
            <a:ext cx="4966446" cy="1398494"/>
          </a:xfrm>
        </p:spPr>
        <p:txBody>
          <a:bodyPr anchor="b" anchorCtr="0"/>
          <a:lstStyle>
            <a:lvl1pPr algn="r">
              <a:defRPr sz="4600" b="0" cap="none" baseline="0"/>
            </a:lvl1pPr>
          </a:lstStyle>
          <a:p>
            <a:r>
              <a:rPr lang="es-ES_tradnl"/>
              <a:t>Clic para editar título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9802" y="4824414"/>
            <a:ext cx="4966446" cy="1320800"/>
          </a:xfrm>
        </p:spPr>
        <p:txBody>
          <a:bodyPr anchor="t" anchorCtr="0">
            <a:normAutofit/>
          </a:bodyPr>
          <a:lstStyle>
            <a:lvl1pPr marL="0" indent="0" algn="r"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600" y="6356352"/>
            <a:ext cx="1622612" cy="365125"/>
          </a:xfrm>
        </p:spPr>
        <p:txBody>
          <a:bodyPr/>
          <a:lstStyle/>
          <a:p>
            <a:fld id="{F211D454-A893-5E4D-9D8B-185D411D2F66}" type="datetimeFigureOut">
              <a:rPr lang="es-ES_tradnl" smtClean="0"/>
              <a:pPr/>
              <a:t>28/05/2026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4812" y="6356352"/>
            <a:ext cx="5311588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 lang="es-ES_tradnl" smtClean="0"/>
              <a:pPr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ón con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69875" y="4773706"/>
            <a:ext cx="2971800" cy="18445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354" y="3429001"/>
            <a:ext cx="4966446" cy="1398494"/>
          </a:xfrm>
        </p:spPr>
        <p:txBody>
          <a:bodyPr anchor="b" anchorCtr="0"/>
          <a:lstStyle>
            <a:lvl1pPr algn="r">
              <a:defRPr sz="4600" b="0" cap="none" baseline="0"/>
            </a:lvl1pPr>
          </a:lstStyle>
          <a:p>
            <a:r>
              <a:rPr lang="es-ES_tradnl"/>
              <a:t>Clic para editar título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20354" y="4824414"/>
            <a:ext cx="4966446" cy="1320800"/>
          </a:xfrm>
        </p:spPr>
        <p:txBody>
          <a:bodyPr anchor="t" anchorCtr="0">
            <a:normAutofit/>
          </a:bodyPr>
          <a:lstStyle>
            <a:lvl1pPr marL="0" indent="0" algn="r"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51213" y="6104967"/>
            <a:ext cx="506506" cy="365125"/>
          </a:xfrm>
        </p:spPr>
        <p:txBody>
          <a:bodyPr/>
          <a:lstStyle/>
          <a:p>
            <a:fld id="{D9105310-0F44-0745-8481-186CA4789E4B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269874" y="268288"/>
            <a:ext cx="2971800" cy="443865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s-ES_tradnl"/>
              <a:t>Haga clic en el icono para agregar una imagen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7391401" cy="1143000"/>
          </a:xfrm>
        </p:spPr>
        <p:txBody>
          <a:bodyPr/>
          <a:lstStyle/>
          <a:p>
            <a:r>
              <a:rPr lang="es-ES_tradnl"/>
              <a:t>Clic para editar título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14563"/>
            <a:ext cx="3566160" cy="3911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82440" y="2214563"/>
            <a:ext cx="3566160" cy="3911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1D454-A893-5E4D-9D8B-185D411D2F66}" type="datetimeFigureOut">
              <a:rPr lang="es-ES_tradnl" smtClean="0"/>
              <a:pPr/>
              <a:t>28/05/2026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05310-0F44-0745-8481-186CA4789E4B}" type="slidenum">
              <a:rPr lang="en-GB" smtClean="0"/>
              <a:pPr/>
              <a:t>‹Nº›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14400"/>
            <a:ext cx="7388352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054132"/>
            <a:ext cx="356616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ct val="0"/>
              </a:spcBef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689413"/>
            <a:ext cx="3566160" cy="343675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79391" y="2054132"/>
            <a:ext cx="356616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ct val="0"/>
              </a:spcBef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79391" y="2689413"/>
            <a:ext cx="3566160" cy="343675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1D454-A893-5E4D-9D8B-185D411D2F66}" type="datetimeFigureOut">
              <a:rPr lang="es-ES_tradnl" smtClean="0"/>
              <a:pPr/>
              <a:t>28/05/2026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05310-0F44-0745-8481-186CA4789E4B}" type="slidenum">
              <a:rPr lang="en-GB" smtClean="0"/>
              <a:pPr/>
              <a:t>‹Nº›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objetos, superior e inf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7391401" cy="1143000"/>
          </a:xfrm>
        </p:spPr>
        <p:txBody>
          <a:bodyPr/>
          <a:lstStyle/>
          <a:p>
            <a:r>
              <a:rPr lang="es-ES_tradnl"/>
              <a:t>Clic para editar título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199" y="2214562"/>
            <a:ext cx="7396163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1D454-A893-5E4D-9D8B-185D411D2F66}" type="datetimeFigureOut">
              <a:rPr lang="es-ES_tradnl" smtClean="0"/>
              <a:pPr/>
              <a:t>28/05/2026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05310-0F44-0745-8481-186CA4789E4B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457199" y="4224973"/>
            <a:ext cx="7396163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7391401" cy="1143000"/>
          </a:xfrm>
        </p:spPr>
        <p:txBody>
          <a:bodyPr/>
          <a:lstStyle/>
          <a:p>
            <a:r>
              <a:rPr lang="es-ES_tradnl"/>
              <a:t>Clic para editar título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82440" y="2214562"/>
            <a:ext cx="356616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1D454-A893-5E4D-9D8B-185D411D2F66}" type="datetimeFigureOut">
              <a:rPr lang="es-ES_tradnl" smtClean="0"/>
              <a:pPr/>
              <a:t>28/05/2026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05310-0F44-0745-8481-186CA4789E4B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4282440" y="4224973"/>
            <a:ext cx="356616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/>
          </a:p>
        </p:txBody>
      </p:sp>
      <p:sp>
        <p:nvSpPr>
          <p:cNvPr id="10" name="Content Placeholder 2"/>
          <p:cNvSpPr>
            <a:spLocks noGrp="1"/>
          </p:cNvSpPr>
          <p:nvPr>
            <p:ph sz="half" idx="14"/>
          </p:nvPr>
        </p:nvSpPr>
        <p:spPr>
          <a:xfrm>
            <a:off x="457200" y="2214563"/>
            <a:ext cx="3566160" cy="3911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7391401" cy="1143000"/>
          </a:xfrm>
        </p:spPr>
        <p:txBody>
          <a:bodyPr/>
          <a:lstStyle/>
          <a:p>
            <a:r>
              <a:rPr lang="es-ES_tradnl"/>
              <a:t>Clic para editar título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82440" y="2214562"/>
            <a:ext cx="356616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1D454-A893-5E4D-9D8B-185D411D2F66}" type="datetimeFigureOut">
              <a:rPr lang="es-ES_tradnl" smtClean="0"/>
              <a:pPr/>
              <a:t>28/05/2026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05310-0F44-0745-8481-186CA4789E4B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4282440" y="4224973"/>
            <a:ext cx="356616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/>
          </a:p>
        </p:txBody>
      </p:sp>
      <p:sp>
        <p:nvSpPr>
          <p:cNvPr id="11" name="Content Placeholder 2"/>
          <p:cNvSpPr>
            <a:spLocks noGrp="1"/>
          </p:cNvSpPr>
          <p:nvPr>
            <p:ph sz="half" idx="14"/>
          </p:nvPr>
        </p:nvSpPr>
        <p:spPr>
          <a:xfrm>
            <a:off x="457200" y="2214562"/>
            <a:ext cx="356616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/>
          </a:p>
        </p:txBody>
      </p:sp>
      <p:sp>
        <p:nvSpPr>
          <p:cNvPr id="12" name="Content Placeholder 2"/>
          <p:cNvSpPr>
            <a:spLocks noGrp="1"/>
          </p:cNvSpPr>
          <p:nvPr>
            <p:ph sz="half" idx="15"/>
          </p:nvPr>
        </p:nvSpPr>
        <p:spPr>
          <a:xfrm>
            <a:off x="457200" y="4224973"/>
            <a:ext cx="356616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1D454-A893-5E4D-9D8B-185D411D2F66}" type="datetimeFigureOut">
              <a:rPr lang="es-ES_tradnl" smtClean="0"/>
              <a:pPr/>
              <a:t>28/05/2026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05310-0F44-0745-8481-186CA4789E4B}" type="slidenum">
              <a:rPr lang="en-GB" smtClean="0"/>
              <a:pPr/>
              <a:t>‹Nº›</a:t>
            </a:fld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148918" y="268288"/>
            <a:ext cx="718073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1D454-A893-5E4D-9D8B-185D411D2F66}" type="datetimeFigureOut">
              <a:rPr lang="es-ES_tradnl" smtClean="0"/>
              <a:pPr/>
              <a:t>28/05/2026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05310-0F44-0745-8481-186CA4789E4B}" type="slidenum">
              <a:rPr lang="en-GB" smtClean="0"/>
              <a:pPr/>
              <a:t>‹Nº›</a:t>
            </a:fld>
            <a:endParaRPr lang="en-GB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48918" y="268288"/>
            <a:ext cx="718073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95082"/>
            <a:ext cx="3566160" cy="1035424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s-ES_tradnl"/>
              <a:t>Clic para editar título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2052" y="990600"/>
            <a:ext cx="3566160" cy="51355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199" y="2057401"/>
            <a:ext cx="3566160" cy="3657601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1D454-A893-5E4D-9D8B-185D411D2F66}" type="datetimeFigureOut">
              <a:rPr lang="es-ES_tradnl" smtClean="0"/>
              <a:pPr/>
              <a:t>28/05/2026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05310-0F44-0745-8481-186CA4789E4B}" type="slidenum">
              <a:rPr lang="en-GB" smtClean="0"/>
              <a:pPr/>
              <a:t>‹Nº›</a:t>
            </a:fld>
            <a:endParaRPr lang="en-GB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746811" y="268288"/>
            <a:ext cx="4114800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95082"/>
            <a:ext cx="3566160" cy="1035424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s-ES_tradnl"/>
              <a:t>Clic para editar título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199" y="2057401"/>
            <a:ext cx="3566160" cy="3657601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1365" y="6124016"/>
            <a:ext cx="1752600" cy="365125"/>
          </a:xfrm>
        </p:spPr>
        <p:txBody>
          <a:bodyPr/>
          <a:lstStyle>
            <a:lvl1pPr algn="l">
              <a:defRPr/>
            </a:lvl1pPr>
          </a:lstStyle>
          <a:p>
            <a:fld id="{F211D454-A893-5E4D-9D8B-185D411D2F66}" type="datetimeFigureOut">
              <a:rPr lang="es-ES_tradnl" smtClean="0"/>
              <a:pPr/>
              <a:t>28/05/2026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4812" y="6356352"/>
            <a:ext cx="3863788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05310-0F44-0745-8481-186CA4789E4B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760258" y="990600"/>
            <a:ext cx="4096512" cy="561181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s-ES_tradnl"/>
              <a:t>Haga clic en el icono para agregar una imagen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encima d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7216776" y="268288"/>
            <a:ext cx="1639457" cy="36393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788" y="4267200"/>
            <a:ext cx="6477000" cy="566738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s-ES_tradnl"/>
              <a:t>Clic para editar título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69874" y="268288"/>
            <a:ext cx="6858000" cy="36393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_tradnl"/>
              <a:t>Haga clic en el icono para agregar una imagen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8788" y="4840943"/>
            <a:ext cx="6475412" cy="1304271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1D454-A893-5E4D-9D8B-185D411D2F66}" type="datetimeFigureOut">
              <a:rPr lang="es-ES_tradnl" smtClean="0"/>
              <a:pPr/>
              <a:t>28/05/2026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05310-0F44-0745-8481-186CA4789E4B}" type="slidenum">
              <a:rPr lang="en-GB" smtClean="0"/>
              <a:pPr/>
              <a:t>‹Nº›</a:t>
            </a:fld>
            <a:endParaRPr lang="en-GB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4 imágenes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35472" y="268288"/>
            <a:ext cx="720761" cy="36393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788" y="4267200"/>
            <a:ext cx="6477000" cy="566738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s-ES_tradnl"/>
              <a:t>Clic para editar título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69874" y="268288"/>
            <a:ext cx="3006726" cy="36393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_tradnl"/>
              <a:t>Haga clic en el icono para agregar una imagen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8788" y="4840943"/>
            <a:ext cx="6475412" cy="1304271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1D454-A893-5E4D-9D8B-185D411D2F66}" type="datetimeFigureOut">
              <a:rPr lang="es-ES_tradnl" smtClean="0"/>
              <a:pPr/>
              <a:t>28/05/2026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05310-0F44-0745-8481-186CA4789E4B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10" name="Picture Placeholder 2"/>
          <p:cNvSpPr>
            <a:spLocks noGrp="1"/>
          </p:cNvSpPr>
          <p:nvPr>
            <p:ph type="pic" idx="13"/>
          </p:nvPr>
        </p:nvSpPr>
        <p:spPr>
          <a:xfrm>
            <a:off x="3352800" y="268290"/>
            <a:ext cx="4701988" cy="17756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_tradnl"/>
              <a:t>Haga clic en el icono para agregar una imagen</a:t>
            </a:r>
            <a:endParaRPr/>
          </a:p>
        </p:txBody>
      </p:sp>
      <p:sp>
        <p:nvSpPr>
          <p:cNvPr id="11" name="Picture Placeholder 2"/>
          <p:cNvSpPr>
            <a:spLocks noGrp="1"/>
          </p:cNvSpPr>
          <p:nvPr>
            <p:ph type="pic" idx="14"/>
          </p:nvPr>
        </p:nvSpPr>
        <p:spPr>
          <a:xfrm>
            <a:off x="3352800" y="2131937"/>
            <a:ext cx="2304288" cy="17756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_tradnl"/>
              <a:t>Haga clic en el icono para agregar una imagen</a:t>
            </a:r>
            <a:endParaRPr/>
          </a:p>
        </p:txBody>
      </p:sp>
      <p:sp>
        <p:nvSpPr>
          <p:cNvPr id="12" name="Picture Placeholder 2"/>
          <p:cNvSpPr>
            <a:spLocks noGrp="1"/>
          </p:cNvSpPr>
          <p:nvPr>
            <p:ph type="pic" idx="15"/>
          </p:nvPr>
        </p:nvSpPr>
        <p:spPr>
          <a:xfrm>
            <a:off x="5750500" y="2131937"/>
            <a:ext cx="2304288" cy="17756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_tradnl"/>
              <a:t>Haga clic en el icono para agregar una imagen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212106" y="268288"/>
            <a:ext cx="1645920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1D454-A893-5E4D-9D8B-185D411D2F66}" type="datetimeFigureOut">
              <a:rPr lang="es-ES_tradnl" smtClean="0"/>
              <a:pPr/>
              <a:t>28/05/2026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05310-0F44-0745-8481-186CA4789E4B}" type="slidenum">
              <a:rPr lang="en-GB" smtClean="0"/>
              <a:pPr/>
              <a:t>‹Nº›</a:t>
            </a:fld>
            <a:endParaRPr lang="en-GB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48918" y="268288"/>
            <a:ext cx="718073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43800" y="1035426"/>
            <a:ext cx="1322295" cy="5090739"/>
          </a:xfrm>
        </p:spPr>
        <p:txBody>
          <a:bodyPr vert="eaVert" anchor="t" anchorCtr="0"/>
          <a:lstStyle/>
          <a:p>
            <a:r>
              <a:rPr lang="es-ES_tradnl"/>
              <a:t>Clic para editar título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035426"/>
            <a:ext cx="6019800" cy="5109789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1D454-A893-5E4D-9D8B-185D411D2F66}" type="datetimeFigureOut">
              <a:rPr lang="es-ES_tradnl" smtClean="0"/>
              <a:pPr/>
              <a:t>28/05/2026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05310-0F44-0745-8481-186CA4789E4B}" type="slidenum">
              <a:rPr lang="en-GB" smtClean="0"/>
              <a:pPr/>
              <a:t>‹Nº›</a:t>
            </a:fld>
            <a:endParaRPr lang="en-GB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ítulo, texto y 2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442913"/>
            <a:ext cx="7162800" cy="254794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sz="half" idx="1"/>
          </p:nvPr>
        </p:nvSpPr>
        <p:spPr>
          <a:xfrm>
            <a:off x="857251" y="1143000"/>
            <a:ext cx="3488267" cy="5029200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contenido 3"/>
          <p:cNvSpPr>
            <a:spLocks noGrp="1"/>
          </p:cNvSpPr>
          <p:nvPr>
            <p:ph sz="quarter" idx="2"/>
          </p:nvPr>
        </p:nvSpPr>
        <p:spPr>
          <a:xfrm>
            <a:off x="4548719" y="1143000"/>
            <a:ext cx="3490383" cy="2457450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5" name="Marcador de contenido 4"/>
          <p:cNvSpPr>
            <a:spLocks noGrp="1"/>
          </p:cNvSpPr>
          <p:nvPr>
            <p:ph sz="quarter" idx="3"/>
          </p:nvPr>
        </p:nvSpPr>
        <p:spPr>
          <a:xfrm>
            <a:off x="4548719" y="3714750"/>
            <a:ext cx="3490383" cy="2457450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2382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199" y="914400"/>
            <a:ext cx="6508377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s-ES_tradnl"/>
              <a:t>Clic para editar título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199" y="2209802"/>
            <a:ext cx="6508377" cy="3916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8659" y="6356352"/>
            <a:ext cx="1752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F211D454-A893-5E4D-9D8B-185D411D2F66}" type="datetimeFigureOut">
              <a:rPr lang="es-ES_tradnl" smtClean="0"/>
              <a:pPr/>
              <a:t>28/05/2026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4812" y="6356352"/>
            <a:ext cx="6007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0F1A3142-B669-3D43-A678-BE87468B7EF4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56494" y="361018"/>
            <a:ext cx="5065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00" b="1">
                <a:solidFill>
                  <a:schemeClr val="bg1"/>
                </a:solidFill>
              </a:defRPr>
            </a:lvl1pPr>
          </a:lstStyle>
          <a:p>
            <a:fld id="{D9105310-0F44-0745-8481-186CA4789E4B}" type="slidenum">
              <a:rPr lang="en-GB" smtClean="0"/>
              <a:pPr/>
              <a:t>‹Nº›</a:t>
            </a:fld>
            <a:endParaRPr lang="en-GB"/>
          </a:p>
        </p:txBody>
      </p:sp>
      <p:pic>
        <p:nvPicPr>
          <p:cNvPr id="7" name="Imagen 6" descr="Universidad de Caldas - UdeC">
            <a:extLst>
              <a:ext uri="{FF2B5EF4-FFF2-40B4-BE49-F238E27FC236}">
                <a16:creationId xmlns:a16="http://schemas.microsoft.com/office/drawing/2014/main" id="{43FDFCBD-0A17-BB06-0CB9-EA925C60448C}"/>
              </a:ext>
            </a:extLst>
          </p:cNvPr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457199" y="0"/>
            <a:ext cx="1071563" cy="107156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75" r:id="rId1"/>
    <p:sldLayoutId id="2147483876" r:id="rId2"/>
    <p:sldLayoutId id="2147483877" r:id="rId3"/>
    <p:sldLayoutId id="2147483878" r:id="rId4"/>
    <p:sldLayoutId id="2147483879" r:id="rId5"/>
    <p:sldLayoutId id="2147483880" r:id="rId6"/>
    <p:sldLayoutId id="2147483881" r:id="rId7"/>
    <p:sldLayoutId id="2147483882" r:id="rId8"/>
    <p:sldLayoutId id="2147483883" r:id="rId9"/>
    <p:sldLayoutId id="2147483884" r:id="rId10"/>
    <p:sldLayoutId id="2147483885" r:id="rId11"/>
    <p:sldLayoutId id="2147483886" r:id="rId12"/>
    <p:sldLayoutId id="2147483887" r:id="rId13"/>
    <p:sldLayoutId id="2147483888" r:id="rId14"/>
    <p:sldLayoutId id="2147483889" r:id="rId15"/>
    <p:sldLayoutId id="2147483890" r:id="rId16"/>
    <p:sldLayoutId id="2147483891" r:id="rId17"/>
    <p:sldLayoutId id="2147483892" r:id="rId18"/>
    <p:sldLayoutId id="2147483893" r:id="rId19"/>
    <p:sldLayoutId id="2147483897" r:id="rId20"/>
    <p:sldLayoutId id="2147483898" r:id="rId2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ts val="1800"/>
        </a:spcBef>
        <a:buClr>
          <a:schemeClr val="accent1"/>
        </a:buClr>
        <a:buSzPct val="100000"/>
        <a:buFont typeface="Wingdings 2" pitchFamily="18" charset="2"/>
        <a:buChar char="¡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spcBef>
          <a:spcPts val="600"/>
        </a:spcBef>
        <a:buClr>
          <a:schemeClr val="accent1"/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spcBef>
          <a:spcPts val="600"/>
        </a:spcBef>
        <a:buClr>
          <a:schemeClr val="accent1"/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s-ES_tradnl" sz="2800" dirty="0">
                <a:solidFill>
                  <a:schemeClr val="tx1"/>
                </a:solidFill>
              </a:rPr>
              <a:t>Datos estudiantes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ES_tradnl" sz="1400" b="1" dirty="0">
                <a:solidFill>
                  <a:schemeClr val="accent1"/>
                </a:solidFill>
              </a:rPr>
              <a:t>Nombres, apellidos, correo por cada estudiante</a:t>
            </a:r>
          </a:p>
          <a:p>
            <a:endParaRPr lang="es-ES_tradnl" sz="1400" dirty="0">
              <a:solidFill>
                <a:srgbClr val="000000"/>
              </a:solidFill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3535838" y="502410"/>
            <a:ext cx="51235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b="1" dirty="0">
                <a:solidFill>
                  <a:srgbClr val="FFFFFF"/>
                </a:solidFill>
              </a:rPr>
              <a:t>Tutorial Titulo</a:t>
            </a:r>
            <a:endParaRPr lang="es-ES_tradnl" sz="3200" b="1" dirty="0">
              <a:solidFill>
                <a:srgbClr val="FFFFFF"/>
              </a:solidFill>
            </a:endParaRPr>
          </a:p>
        </p:txBody>
      </p:sp>
      <p:sp>
        <p:nvSpPr>
          <p:cNvPr id="4" name="Shape 17">
            <a:extLst>
              <a:ext uri="{FF2B5EF4-FFF2-40B4-BE49-F238E27FC236}">
                <a16:creationId xmlns:a16="http://schemas.microsoft.com/office/drawing/2014/main" id="{21AFB34D-08F3-B31A-B69F-169D700D7617}"/>
              </a:ext>
            </a:extLst>
          </p:cNvPr>
          <p:cNvSpPr/>
          <p:nvPr/>
        </p:nvSpPr>
        <p:spPr>
          <a:xfrm>
            <a:off x="384048" y="5998974"/>
            <a:ext cx="2606040" cy="713232"/>
          </a:xfrm>
          <a:prstGeom prst="rect">
            <a:avLst/>
          </a:prstGeom>
          <a:solidFill>
            <a:srgbClr val="EA4B7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Text 18">
            <a:extLst>
              <a:ext uri="{FF2B5EF4-FFF2-40B4-BE49-F238E27FC236}">
                <a16:creationId xmlns:a16="http://schemas.microsoft.com/office/drawing/2014/main" id="{8BBBEF03-21BE-B42E-FD9C-E62686AC4D76}"/>
              </a:ext>
            </a:extLst>
          </p:cNvPr>
          <p:cNvSpPr/>
          <p:nvPr/>
        </p:nvSpPr>
        <p:spPr>
          <a:xfrm>
            <a:off x="475488" y="602640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1</a:t>
            </a:r>
            <a:endParaRPr lang="en-US" sz="1000" dirty="0"/>
          </a:p>
        </p:txBody>
      </p:sp>
      <p:sp>
        <p:nvSpPr>
          <p:cNvPr id="6" name="Text 19">
            <a:extLst>
              <a:ext uri="{FF2B5EF4-FFF2-40B4-BE49-F238E27FC236}">
                <a16:creationId xmlns:a16="http://schemas.microsoft.com/office/drawing/2014/main" id="{BF1F4698-8332-F789-7B27-07AAEF87764D}"/>
              </a:ext>
            </a:extLst>
          </p:cNvPr>
          <p:cNvSpPr/>
          <p:nvPr/>
        </p:nvSpPr>
        <p:spPr>
          <a:xfrm>
            <a:off x="475488" y="627329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E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900" dirty="0"/>
          </a:p>
        </p:txBody>
      </p:sp>
      <p:sp>
        <p:nvSpPr>
          <p:cNvPr id="7" name="Text 20">
            <a:extLst>
              <a:ext uri="{FF2B5EF4-FFF2-40B4-BE49-F238E27FC236}">
                <a16:creationId xmlns:a16="http://schemas.microsoft.com/office/drawing/2014/main" id="{113CF7D0-402B-A925-89CD-F2D5AD9C3101}"/>
              </a:ext>
            </a:extLst>
          </p:cNvPr>
          <p:cNvSpPr/>
          <p:nvPr/>
        </p:nvSpPr>
        <p:spPr>
          <a:xfrm>
            <a:off x="2167128" y="625500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3.5</a:t>
            </a:r>
            <a:endParaRPr lang="en-US" sz="1300" dirty="0"/>
          </a:p>
        </p:txBody>
      </p:sp>
      <p:sp>
        <p:nvSpPr>
          <p:cNvPr id="9" name="Shape 21">
            <a:extLst>
              <a:ext uri="{FF2B5EF4-FFF2-40B4-BE49-F238E27FC236}">
                <a16:creationId xmlns:a16="http://schemas.microsoft.com/office/drawing/2014/main" id="{9659C244-671C-EDAC-7424-3CF15299A469}"/>
              </a:ext>
            </a:extLst>
          </p:cNvPr>
          <p:cNvSpPr/>
          <p:nvPr/>
        </p:nvSpPr>
        <p:spPr>
          <a:xfrm>
            <a:off x="3218688" y="5998974"/>
            <a:ext cx="2606040" cy="713232"/>
          </a:xfrm>
          <a:prstGeom prst="rect">
            <a:avLst/>
          </a:prstGeom>
          <a:solidFill>
            <a:srgbClr val="27A99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Text 22">
            <a:extLst>
              <a:ext uri="{FF2B5EF4-FFF2-40B4-BE49-F238E27FC236}">
                <a16:creationId xmlns:a16="http://schemas.microsoft.com/office/drawing/2014/main" id="{68778DDA-1639-A095-0E53-F70D22BC9C6D}"/>
              </a:ext>
            </a:extLst>
          </p:cNvPr>
          <p:cNvSpPr/>
          <p:nvPr/>
        </p:nvSpPr>
        <p:spPr>
          <a:xfrm>
            <a:off x="3310128" y="602640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2</a:t>
            </a:r>
            <a:endParaRPr lang="en-US" sz="1000" dirty="0"/>
          </a:p>
        </p:txBody>
      </p:sp>
      <p:sp>
        <p:nvSpPr>
          <p:cNvPr id="11" name="Text 23">
            <a:extLst>
              <a:ext uri="{FF2B5EF4-FFF2-40B4-BE49-F238E27FC236}">
                <a16:creationId xmlns:a16="http://schemas.microsoft.com/office/drawing/2014/main" id="{9856C405-0E66-CC91-F4E9-D99FA532D24E}"/>
              </a:ext>
            </a:extLst>
          </p:cNvPr>
          <p:cNvSpPr/>
          <p:nvPr/>
        </p:nvSpPr>
        <p:spPr>
          <a:xfrm>
            <a:off x="3310128" y="627329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E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900" dirty="0"/>
          </a:p>
        </p:txBody>
      </p:sp>
      <p:sp>
        <p:nvSpPr>
          <p:cNvPr id="12" name="Text 24">
            <a:extLst>
              <a:ext uri="{FF2B5EF4-FFF2-40B4-BE49-F238E27FC236}">
                <a16:creationId xmlns:a16="http://schemas.microsoft.com/office/drawing/2014/main" id="{17323CB1-89BA-D5DB-4571-50FDBACAF6E0}"/>
              </a:ext>
            </a:extLst>
          </p:cNvPr>
          <p:cNvSpPr/>
          <p:nvPr/>
        </p:nvSpPr>
        <p:spPr>
          <a:xfrm>
            <a:off x="5001768" y="625500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4.5</a:t>
            </a:r>
            <a:endParaRPr lang="en-US" sz="1300" dirty="0"/>
          </a:p>
        </p:txBody>
      </p:sp>
      <p:sp>
        <p:nvSpPr>
          <p:cNvPr id="13" name="Shape 25">
            <a:extLst>
              <a:ext uri="{FF2B5EF4-FFF2-40B4-BE49-F238E27FC236}">
                <a16:creationId xmlns:a16="http://schemas.microsoft.com/office/drawing/2014/main" id="{699B4444-2EC2-B96F-6995-B9C96543F9FE}"/>
              </a:ext>
            </a:extLst>
          </p:cNvPr>
          <p:cNvSpPr/>
          <p:nvPr/>
        </p:nvSpPr>
        <p:spPr>
          <a:xfrm>
            <a:off x="6053328" y="5998974"/>
            <a:ext cx="2606040" cy="713232"/>
          </a:xfrm>
          <a:prstGeom prst="rect">
            <a:avLst/>
          </a:prstGeom>
          <a:solidFill>
            <a:srgbClr val="5B2D8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Text 26">
            <a:extLst>
              <a:ext uri="{FF2B5EF4-FFF2-40B4-BE49-F238E27FC236}">
                <a16:creationId xmlns:a16="http://schemas.microsoft.com/office/drawing/2014/main" id="{5D88529C-00F3-BCB0-2B0C-41FC4447CD95}"/>
              </a:ext>
            </a:extLst>
          </p:cNvPr>
          <p:cNvSpPr/>
          <p:nvPr/>
        </p:nvSpPr>
        <p:spPr>
          <a:xfrm>
            <a:off x="6144768" y="602640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3</a:t>
            </a:r>
            <a:endParaRPr lang="en-US" sz="1000" dirty="0"/>
          </a:p>
        </p:txBody>
      </p:sp>
      <p:sp>
        <p:nvSpPr>
          <p:cNvPr id="15" name="Text 27">
            <a:extLst>
              <a:ext uri="{FF2B5EF4-FFF2-40B4-BE49-F238E27FC236}">
                <a16:creationId xmlns:a16="http://schemas.microsoft.com/office/drawing/2014/main" id="{311D78F4-E3F9-1004-26A6-432BC1354983}"/>
              </a:ext>
            </a:extLst>
          </p:cNvPr>
          <p:cNvSpPr/>
          <p:nvPr/>
        </p:nvSpPr>
        <p:spPr>
          <a:xfrm>
            <a:off x="6144768" y="627329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E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Racionalidad</a:t>
            </a:r>
            <a:endParaRPr lang="en-US" sz="900" dirty="0"/>
          </a:p>
        </p:txBody>
      </p:sp>
      <p:sp>
        <p:nvSpPr>
          <p:cNvPr id="16" name="Text 28">
            <a:extLst>
              <a:ext uri="{FF2B5EF4-FFF2-40B4-BE49-F238E27FC236}">
                <a16:creationId xmlns:a16="http://schemas.microsoft.com/office/drawing/2014/main" id="{F7CDDF09-6BA8-0B07-9725-7C75875B35B4}"/>
              </a:ext>
            </a:extLst>
          </p:cNvPr>
          <p:cNvSpPr/>
          <p:nvPr/>
        </p:nvSpPr>
        <p:spPr>
          <a:xfrm>
            <a:off x="7836408" y="625500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5.0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63C54A-3E42-FF87-AD17-529D7D107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425" y="1024573"/>
            <a:ext cx="6508377" cy="1143000"/>
          </a:xfrm>
        </p:spPr>
        <p:txBody>
          <a:bodyPr/>
          <a:lstStyle/>
          <a:p>
            <a:pPr algn="ctr"/>
            <a:r>
              <a:rPr lang="es-CO" dirty="0"/>
              <a:t>Introducción</a:t>
            </a:r>
            <a:br>
              <a:rPr lang="es-CO" dirty="0"/>
            </a:b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44278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08668"/>
            <a:ext cx="8757501" cy="534382"/>
          </a:xfrm>
          <a:prstGeom prst="rect">
            <a:avLst/>
          </a:prstGeom>
          <a:solidFill>
            <a:srgbClr val="00308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85725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Justificación del Proyecto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68021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es relevante este proyecto?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2155698"/>
            <a:ext cx="278892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 sz="1200"/>
          </a:p>
        </p:txBody>
      </p:sp>
      <p:sp>
        <p:nvSpPr>
          <p:cNvPr id="8" name="Shape 6"/>
          <p:cNvSpPr/>
          <p:nvPr/>
        </p:nvSpPr>
        <p:spPr>
          <a:xfrm>
            <a:off x="274320" y="2155698"/>
            <a:ext cx="2788920" cy="347472"/>
          </a:xfrm>
          <a:prstGeom prst="rect">
            <a:avLst/>
          </a:prstGeom>
          <a:solidFill>
            <a:srgbClr val="003087"/>
          </a:solidFill>
          <a:ln/>
        </p:spPr>
        <p:txBody>
          <a:bodyPr/>
          <a:lstStyle/>
          <a:p>
            <a:endParaRPr lang="es-CO" sz="1200"/>
          </a:p>
        </p:txBody>
      </p:sp>
      <p:sp>
        <p:nvSpPr>
          <p:cNvPr id="9" name="Text 7"/>
          <p:cNvSpPr/>
          <p:nvPr/>
        </p:nvSpPr>
        <p:spPr>
          <a:xfrm>
            <a:off x="365760" y="215569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Problema identificado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576322"/>
            <a:ext cx="2606040" cy="2788920"/>
          </a:xfrm>
          <a:prstGeom prst="rect">
            <a:avLst/>
          </a:prstGeom>
          <a:solidFill>
            <a:srgbClr val="FAFAFA"/>
          </a:solidFill>
          <a:ln w="15240">
            <a:solidFill>
              <a:srgbClr val="C8A415"/>
            </a:solidFill>
            <a:prstDash val="dash"/>
          </a:ln>
        </p:spPr>
        <p:txBody>
          <a:bodyPr/>
          <a:lstStyle/>
          <a:p>
            <a:endParaRPr lang="es-CO" sz="1200"/>
          </a:p>
        </p:txBody>
      </p:sp>
      <p:sp>
        <p:nvSpPr>
          <p:cNvPr id="11" name="Text 9"/>
          <p:cNvSpPr/>
          <p:nvPr/>
        </p:nvSpPr>
        <p:spPr>
          <a:xfrm>
            <a:off x="438912" y="2631186"/>
            <a:ext cx="2459736" cy="2679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Describa el problema o necesidad que motiva el proyecto. ¿Qué situación del mundo real busca resolver?</a:t>
            </a:r>
            <a:endParaRPr lang="en-US" sz="1200" dirty="0"/>
          </a:p>
          <a:p>
            <a:endParaRPr lang="en-US" sz="1200" dirty="0"/>
          </a:p>
          <a:p>
            <a:r>
              <a:rPr lang="en-US" sz="12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[Complete aquí]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2155698"/>
            <a:ext cx="278892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 sz="1200"/>
          </a:p>
        </p:txBody>
      </p:sp>
      <p:sp>
        <p:nvSpPr>
          <p:cNvPr id="13" name="Shape 11"/>
          <p:cNvSpPr/>
          <p:nvPr/>
        </p:nvSpPr>
        <p:spPr>
          <a:xfrm>
            <a:off x="3246120" y="2155698"/>
            <a:ext cx="2788920" cy="347472"/>
          </a:xfrm>
          <a:prstGeom prst="rect">
            <a:avLst/>
          </a:prstGeom>
          <a:solidFill>
            <a:srgbClr val="003087"/>
          </a:solidFill>
          <a:ln/>
        </p:spPr>
        <p:txBody>
          <a:bodyPr/>
          <a:lstStyle/>
          <a:p>
            <a:endParaRPr lang="es-CO" sz="1200"/>
          </a:p>
        </p:txBody>
      </p:sp>
      <p:sp>
        <p:nvSpPr>
          <p:cNvPr id="14" name="Text 12"/>
          <p:cNvSpPr/>
          <p:nvPr/>
        </p:nvSpPr>
        <p:spPr>
          <a:xfrm>
            <a:off x="3337560" y="215569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Propuesta de solución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37560" y="2576322"/>
            <a:ext cx="2606040" cy="2788920"/>
          </a:xfrm>
          <a:prstGeom prst="rect">
            <a:avLst/>
          </a:prstGeom>
          <a:solidFill>
            <a:srgbClr val="FAFAFA"/>
          </a:solidFill>
          <a:ln w="15240">
            <a:solidFill>
              <a:srgbClr val="C8A415"/>
            </a:solidFill>
            <a:prstDash val="dash"/>
          </a:ln>
        </p:spPr>
        <p:txBody>
          <a:bodyPr/>
          <a:lstStyle/>
          <a:p>
            <a:endParaRPr lang="es-CO" sz="1200"/>
          </a:p>
        </p:txBody>
      </p:sp>
      <p:sp>
        <p:nvSpPr>
          <p:cNvPr id="16" name="Text 14"/>
          <p:cNvSpPr/>
          <p:nvPr/>
        </p:nvSpPr>
        <p:spPr>
          <a:xfrm>
            <a:off x="3410712" y="2631186"/>
            <a:ext cx="2459736" cy="2679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la combinación de automatización (N8n) e IA conversacional (LangChain) resuelve el problema?</a:t>
            </a:r>
            <a:endParaRPr lang="en-US" sz="1200" dirty="0"/>
          </a:p>
          <a:p>
            <a:endParaRPr lang="en-US" sz="1200" dirty="0"/>
          </a:p>
          <a:p>
            <a:r>
              <a:rPr lang="en-US" sz="12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[Complete aquí]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2155698"/>
            <a:ext cx="278892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 sz="1200"/>
          </a:p>
        </p:txBody>
      </p:sp>
      <p:sp>
        <p:nvSpPr>
          <p:cNvPr id="18" name="Shape 16"/>
          <p:cNvSpPr/>
          <p:nvPr/>
        </p:nvSpPr>
        <p:spPr>
          <a:xfrm>
            <a:off x="6217920" y="2155698"/>
            <a:ext cx="2788920" cy="347472"/>
          </a:xfrm>
          <a:prstGeom prst="rect">
            <a:avLst/>
          </a:prstGeom>
          <a:solidFill>
            <a:srgbClr val="003087"/>
          </a:solidFill>
          <a:ln/>
        </p:spPr>
        <p:txBody>
          <a:bodyPr/>
          <a:lstStyle/>
          <a:p>
            <a:endParaRPr lang="es-CO" sz="1200"/>
          </a:p>
        </p:txBody>
      </p:sp>
      <p:sp>
        <p:nvSpPr>
          <p:cNvPr id="19" name="Text 17"/>
          <p:cNvSpPr/>
          <p:nvPr/>
        </p:nvSpPr>
        <p:spPr>
          <a:xfrm>
            <a:off x="6309360" y="215569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 Relevancia académica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2576322"/>
            <a:ext cx="2606040" cy="2788920"/>
          </a:xfrm>
          <a:prstGeom prst="rect">
            <a:avLst/>
          </a:prstGeom>
          <a:solidFill>
            <a:srgbClr val="FAFAFA"/>
          </a:solidFill>
          <a:ln w="15240">
            <a:solidFill>
              <a:srgbClr val="C8A415"/>
            </a:solidFill>
            <a:prstDash val="dash"/>
          </a:ln>
        </p:spPr>
        <p:txBody>
          <a:bodyPr/>
          <a:lstStyle/>
          <a:p>
            <a:endParaRPr lang="es-CO" sz="1200"/>
          </a:p>
        </p:txBody>
      </p:sp>
      <p:sp>
        <p:nvSpPr>
          <p:cNvPr id="21" name="Text 19"/>
          <p:cNvSpPr/>
          <p:nvPr/>
        </p:nvSpPr>
        <p:spPr>
          <a:xfrm>
            <a:off x="6382512" y="2631186"/>
            <a:ext cx="2459736" cy="2679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competencias de la </a:t>
            </a:r>
            <a:r>
              <a:rPr lang="en-US" sz="1200" i="1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Especialización</a:t>
            </a:r>
            <a:r>
              <a:rPr lang="en-US" sz="12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 IA se aplican? </a:t>
            </a:r>
            <a:endParaRPr lang="en-US" sz="1200" dirty="0"/>
          </a:p>
          <a:p>
            <a:r>
              <a:rPr lang="en-US" sz="12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[Complete aquí]</a:t>
            </a:r>
            <a:endParaRPr lang="en-US" sz="1200" dirty="0"/>
          </a:p>
        </p:txBody>
      </p:sp>
      <p:sp>
        <p:nvSpPr>
          <p:cNvPr id="22" name="Shape 2">
            <a:extLst>
              <a:ext uri="{FF2B5EF4-FFF2-40B4-BE49-F238E27FC236}">
                <a16:creationId xmlns:a16="http://schemas.microsoft.com/office/drawing/2014/main" id="{ED8B3ACE-5795-00E6-6B5F-B971570204E1}"/>
              </a:ext>
            </a:extLst>
          </p:cNvPr>
          <p:cNvSpPr/>
          <p:nvPr/>
        </p:nvSpPr>
        <p:spPr>
          <a:xfrm>
            <a:off x="0" y="6183630"/>
            <a:ext cx="9144000" cy="251460"/>
          </a:xfrm>
          <a:prstGeom prst="rect">
            <a:avLst/>
          </a:prstGeom>
          <a:solidFill>
            <a:srgbClr val="C9A8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9B97EB9C-0510-BC70-25C1-E25F2869A826}"/>
              </a:ext>
            </a:extLst>
          </p:cNvPr>
          <p:cNvSpPr/>
          <p:nvPr/>
        </p:nvSpPr>
        <p:spPr>
          <a:xfrm>
            <a:off x="182880" y="618363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dirty="0">
                <a:solidFill>
                  <a:srgbClr val="004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Inteligentes 1 — Ingeniería de Sistemas y Computación — Universidad de Caldas   |   NIVEL 1 — hasta 3.5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989838"/>
            <a:ext cx="8778240" cy="502920"/>
          </a:xfrm>
          <a:prstGeom prst="rect">
            <a:avLst/>
          </a:prstGeom>
          <a:solidFill>
            <a:srgbClr val="EA4B7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989838"/>
            <a:ext cx="82515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N8n — Descripción del Flujo de Automatización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498080" y="1661922"/>
            <a:ext cx="1280160" cy="256032"/>
          </a:xfrm>
          <a:prstGeom prst="rect">
            <a:avLst/>
          </a:prstGeom>
          <a:solidFill>
            <a:srgbClr val="EA4B7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7498080" y="166192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1  ≤ 3.5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698498"/>
            <a:ext cx="502920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11480" y="177165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Descripción del Pipeline N8n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256282"/>
            <a:ext cx="384048" cy="384048"/>
          </a:xfrm>
          <a:prstGeom prst="ellipse">
            <a:avLst/>
          </a:prstGeom>
          <a:solidFill>
            <a:srgbClr val="EA4B7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65760" y="225628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237994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/ ENTRADA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22960" y="2512314"/>
            <a:ext cx="4297680" cy="621792"/>
          </a:xfrm>
          <a:prstGeom prst="rect">
            <a:avLst/>
          </a:prstGeom>
          <a:solidFill>
            <a:srgbClr val="FAFAFA"/>
          </a:solidFill>
          <a:ln w="15240">
            <a:solidFill>
              <a:srgbClr val="C8A415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896112" y="2567178"/>
            <a:ext cx="4151376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trigger: Webhook, Cron, Manual…</a:t>
            </a:r>
            <a:endParaRPr lang="en-US" sz="900" dirty="0"/>
          </a:p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Descripción: [complete aquí]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3371850"/>
            <a:ext cx="384048" cy="384048"/>
          </a:xfrm>
          <a:prstGeom prst="ellipse">
            <a:avLst/>
          </a:prstGeom>
          <a:solidFill>
            <a:srgbClr val="EA4B7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365760" y="337185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3353562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22960" y="3627882"/>
            <a:ext cx="4297680" cy="621792"/>
          </a:xfrm>
          <a:prstGeom prst="rect">
            <a:avLst/>
          </a:prstGeom>
          <a:solidFill>
            <a:srgbClr val="FAFAFA"/>
          </a:solidFill>
          <a:ln w="15240">
            <a:solidFill>
              <a:srgbClr val="C8A415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896112" y="3682746"/>
            <a:ext cx="4151376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Nodos de lógica, llamadas API, LLM, transformación…</a:t>
            </a:r>
            <a:endParaRPr lang="en-US" sz="900" dirty="0"/>
          </a:p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Descripción: [complete aquí]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4487418"/>
            <a:ext cx="384048" cy="384048"/>
          </a:xfrm>
          <a:prstGeom prst="ellipse">
            <a:avLst/>
          </a:prstGeom>
          <a:solidFill>
            <a:srgbClr val="EA4B7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365760" y="448741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446913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/ ACCIÓN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22960" y="4743450"/>
            <a:ext cx="4297680" cy="621792"/>
          </a:xfrm>
          <a:prstGeom prst="rect">
            <a:avLst/>
          </a:prstGeom>
          <a:solidFill>
            <a:srgbClr val="FAFAFA"/>
          </a:solidFill>
          <a:ln w="15240">
            <a:solidFill>
              <a:srgbClr val="C8A415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896112" y="4798314"/>
            <a:ext cx="4151376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Telegram, base de datos, HTTP Response…</a:t>
            </a:r>
            <a:endParaRPr lang="en-US" sz="900" dirty="0"/>
          </a:p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Descripción: [complete aquí]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532120" y="1698498"/>
            <a:ext cx="333756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5532120" y="1698498"/>
            <a:ext cx="3337560" cy="347472"/>
          </a:xfrm>
          <a:prstGeom prst="rect">
            <a:avLst/>
          </a:prstGeom>
          <a:solidFill>
            <a:srgbClr val="EA4B7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5623560" y="169849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Captura del Workflow en N8n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23560" y="2100834"/>
            <a:ext cx="3154680" cy="1664208"/>
          </a:xfrm>
          <a:prstGeom prst="rect">
            <a:avLst/>
          </a:prstGeom>
          <a:solidFill>
            <a:srgbClr val="FAFAFA"/>
          </a:solidFill>
          <a:ln w="15240">
            <a:solidFill>
              <a:srgbClr val="C8A415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5696712" y="2155698"/>
            <a:ext cx="30083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[Inserte captura de pantalla del flujo completo en N8n — exportar como imagen PNG]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532120" y="4039362"/>
            <a:ext cx="3337560" cy="16367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>
            <a:off x="5532120" y="4039362"/>
            <a:ext cx="3337560" cy="347472"/>
          </a:xfrm>
          <a:prstGeom prst="rect">
            <a:avLst/>
          </a:prstGeom>
          <a:solidFill>
            <a:srgbClr val="55555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5623560" y="403936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Métricas Generales del Flujo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69280" y="4469130"/>
            <a:ext cx="3108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N.° de nodos activos: ___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0" y="4725162"/>
            <a:ext cx="3108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Tipo de trigger: ___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669280" y="4981194"/>
            <a:ext cx="3108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Tiempo promedio de ejecución: ___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669280" y="5237226"/>
            <a:ext cx="3108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Tasa de éxito en pruebas: ___ %</a:t>
            </a:r>
            <a:endParaRPr lang="en-US" sz="900" dirty="0"/>
          </a:p>
        </p:txBody>
      </p:sp>
      <p:sp>
        <p:nvSpPr>
          <p:cNvPr id="37" name="Shape 2">
            <a:extLst>
              <a:ext uri="{FF2B5EF4-FFF2-40B4-BE49-F238E27FC236}">
                <a16:creationId xmlns:a16="http://schemas.microsoft.com/office/drawing/2014/main" id="{B4852D70-7994-4838-F110-08F13B33484E}"/>
              </a:ext>
            </a:extLst>
          </p:cNvPr>
          <p:cNvSpPr/>
          <p:nvPr/>
        </p:nvSpPr>
        <p:spPr>
          <a:xfrm>
            <a:off x="0" y="6183630"/>
            <a:ext cx="9144000" cy="251460"/>
          </a:xfrm>
          <a:prstGeom prst="rect">
            <a:avLst/>
          </a:prstGeom>
          <a:solidFill>
            <a:srgbClr val="C9A8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8" name="Text 3">
            <a:extLst>
              <a:ext uri="{FF2B5EF4-FFF2-40B4-BE49-F238E27FC236}">
                <a16:creationId xmlns:a16="http://schemas.microsoft.com/office/drawing/2014/main" id="{7B95673C-2C2B-F5FC-5C81-559383DFAC43}"/>
              </a:ext>
            </a:extLst>
          </p:cNvPr>
          <p:cNvSpPr/>
          <p:nvPr/>
        </p:nvSpPr>
        <p:spPr>
          <a:xfrm>
            <a:off x="182880" y="618363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dirty="0">
                <a:solidFill>
                  <a:srgbClr val="004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Inteligentes 1 — Ingeniería de Sistemas y Computación — Universidad de Caldas   |   NIVEL 1 — hasta 3.5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944694"/>
            <a:ext cx="8961120" cy="593208"/>
          </a:xfrm>
          <a:prstGeom prst="rect">
            <a:avLst/>
          </a:prstGeom>
          <a:solidFill>
            <a:srgbClr val="EA4B7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944694"/>
            <a:ext cx="8423453" cy="593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N8n — Paso a Paso: Creación del Flujo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498080" y="1661922"/>
            <a:ext cx="1280160" cy="256032"/>
          </a:xfrm>
          <a:prstGeom prst="rect">
            <a:avLst/>
          </a:prstGeom>
          <a:solidFill>
            <a:srgbClr val="EA4B7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7498080" y="166192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1  ≤ 3.5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680210"/>
            <a:ext cx="416052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274320" y="1680210"/>
            <a:ext cx="4160520" cy="292608"/>
          </a:xfrm>
          <a:prstGeom prst="rect">
            <a:avLst/>
          </a:prstGeom>
          <a:solidFill>
            <a:srgbClr val="EA4B7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384048" y="2155698"/>
            <a:ext cx="384048" cy="384048"/>
          </a:xfrm>
          <a:prstGeom prst="ellipse">
            <a:avLst/>
          </a:prstGeom>
          <a:solidFill>
            <a:srgbClr val="55555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84048" y="215569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168021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1: Instalar / Acceder a N8n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41248" y="2027682"/>
            <a:ext cx="3429000" cy="795528"/>
          </a:xfrm>
          <a:prstGeom prst="rect">
            <a:avLst/>
          </a:prstGeom>
          <a:solidFill>
            <a:srgbClr val="FAFAFA"/>
          </a:solidFill>
          <a:ln w="15240">
            <a:solidFill>
              <a:srgbClr val="C8A415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914400" y="2082546"/>
            <a:ext cx="328269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de acceso o versión utilizada. Self-hosted / Cloud community.</a:t>
            </a:r>
            <a:endParaRPr lang="en-US" sz="900" dirty="0"/>
          </a:p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[Complete aquí]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9160" y="1680210"/>
            <a:ext cx="416052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4709160" y="1680210"/>
            <a:ext cx="4160520" cy="292608"/>
          </a:xfrm>
          <a:prstGeom prst="rect">
            <a:avLst/>
          </a:prstGeom>
          <a:solidFill>
            <a:srgbClr val="C0306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4818888" y="2155698"/>
            <a:ext cx="384048" cy="384048"/>
          </a:xfrm>
          <a:prstGeom prst="ellipse">
            <a:avLst/>
          </a:prstGeom>
          <a:solidFill>
            <a:srgbClr val="55555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4818888" y="215569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168021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2: Crear nuevo Workflow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276088" y="2027682"/>
            <a:ext cx="3429000" cy="795528"/>
          </a:xfrm>
          <a:prstGeom prst="rect">
            <a:avLst/>
          </a:prstGeom>
          <a:solidFill>
            <a:srgbClr val="FAFAFA"/>
          </a:solidFill>
          <a:ln w="15240">
            <a:solidFill>
              <a:srgbClr val="C8A415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5349240" y="2082546"/>
            <a:ext cx="328269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del workflow, descripción inicial del caso de uso.</a:t>
            </a:r>
            <a:endParaRPr lang="en-US" sz="900" dirty="0"/>
          </a:p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[Complete aquí]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097530"/>
            <a:ext cx="416052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274320" y="3097530"/>
            <a:ext cx="4160520" cy="292608"/>
          </a:xfrm>
          <a:prstGeom prst="rect">
            <a:avLst/>
          </a:prstGeom>
          <a:solidFill>
            <a:srgbClr val="EA4B7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384048" y="3573018"/>
            <a:ext cx="384048" cy="384048"/>
          </a:xfrm>
          <a:prstGeom prst="ellipse">
            <a:avLst/>
          </a:prstGeom>
          <a:solidFill>
            <a:srgbClr val="55555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384048" y="357301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309753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3: Configurar el Trigger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41248" y="3445002"/>
            <a:ext cx="3429000" cy="795528"/>
          </a:xfrm>
          <a:prstGeom prst="rect">
            <a:avLst/>
          </a:prstGeom>
          <a:solidFill>
            <a:srgbClr val="FAFAFA"/>
          </a:solidFill>
          <a:ln w="15240">
            <a:solidFill>
              <a:srgbClr val="C8A415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914400" y="3499866"/>
            <a:ext cx="328269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trigger elegido y configuración. Capturas de los parámetros.</a:t>
            </a:r>
            <a:endParaRPr lang="en-US" sz="900" dirty="0"/>
          </a:p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[Complete aquí]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09160" y="3097530"/>
            <a:ext cx="416052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4709160" y="3097530"/>
            <a:ext cx="4160520" cy="292608"/>
          </a:xfrm>
          <a:prstGeom prst="rect">
            <a:avLst/>
          </a:prstGeom>
          <a:solidFill>
            <a:srgbClr val="C0306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>
            <a:off x="4818888" y="3573018"/>
            <a:ext cx="384048" cy="384048"/>
          </a:xfrm>
          <a:prstGeom prst="ellipse">
            <a:avLst/>
          </a:prstGeom>
          <a:solidFill>
            <a:srgbClr val="55555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4818888" y="357301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00600" y="309753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4: Agregar nodos de procesamiento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276088" y="3445002"/>
            <a:ext cx="3429000" cy="795528"/>
          </a:xfrm>
          <a:prstGeom prst="rect">
            <a:avLst/>
          </a:prstGeom>
          <a:solidFill>
            <a:srgbClr val="FAFAFA"/>
          </a:solidFill>
          <a:ln w="15240">
            <a:solidFill>
              <a:srgbClr val="C8A415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5349240" y="3499866"/>
            <a:ext cx="328269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nodos en orden. Configuración de cada nodo.</a:t>
            </a:r>
            <a:endParaRPr lang="en-US" sz="900" dirty="0"/>
          </a:p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[Complete aquí]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4514850"/>
            <a:ext cx="416052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7" name="Shape 35"/>
          <p:cNvSpPr/>
          <p:nvPr/>
        </p:nvSpPr>
        <p:spPr>
          <a:xfrm>
            <a:off x="274320" y="4514850"/>
            <a:ext cx="4160520" cy="292608"/>
          </a:xfrm>
          <a:prstGeom prst="rect">
            <a:avLst/>
          </a:prstGeom>
          <a:solidFill>
            <a:srgbClr val="EA4B7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8" name="Shape 36"/>
          <p:cNvSpPr/>
          <p:nvPr/>
        </p:nvSpPr>
        <p:spPr>
          <a:xfrm>
            <a:off x="384048" y="4990338"/>
            <a:ext cx="384048" cy="384048"/>
          </a:xfrm>
          <a:prstGeom prst="ellipse">
            <a:avLst/>
          </a:prstGeom>
          <a:solidFill>
            <a:srgbClr val="55555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9" name="Text 37"/>
          <p:cNvSpPr/>
          <p:nvPr/>
        </p:nvSpPr>
        <p:spPr>
          <a:xfrm>
            <a:off x="384048" y="499033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65760" y="451485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5: Configurar salida y pruebas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41248" y="4862322"/>
            <a:ext cx="3429000" cy="795528"/>
          </a:xfrm>
          <a:prstGeom prst="rect">
            <a:avLst/>
          </a:prstGeom>
          <a:solidFill>
            <a:srgbClr val="FAFAFA"/>
          </a:solidFill>
          <a:ln w="15240">
            <a:solidFill>
              <a:srgbClr val="C8A415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42" name="Text 40"/>
          <p:cNvSpPr/>
          <p:nvPr/>
        </p:nvSpPr>
        <p:spPr>
          <a:xfrm>
            <a:off x="914400" y="4917186"/>
            <a:ext cx="328269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salida. Resultado esperado. Prueba de ejecución manual.</a:t>
            </a:r>
            <a:endParaRPr lang="en-US" sz="900" dirty="0"/>
          </a:p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[Complete aquí]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09160" y="4514850"/>
            <a:ext cx="416052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4" name="Shape 42"/>
          <p:cNvSpPr/>
          <p:nvPr/>
        </p:nvSpPr>
        <p:spPr>
          <a:xfrm>
            <a:off x="4709160" y="4514850"/>
            <a:ext cx="4160520" cy="292608"/>
          </a:xfrm>
          <a:prstGeom prst="rect">
            <a:avLst/>
          </a:prstGeom>
          <a:solidFill>
            <a:srgbClr val="C0306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5" name="Shape 43"/>
          <p:cNvSpPr/>
          <p:nvPr/>
        </p:nvSpPr>
        <p:spPr>
          <a:xfrm>
            <a:off x="4818888" y="4990338"/>
            <a:ext cx="384048" cy="384048"/>
          </a:xfrm>
          <a:prstGeom prst="ellipse">
            <a:avLst/>
          </a:prstGeom>
          <a:solidFill>
            <a:srgbClr val="55555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6" name="Text 44"/>
          <p:cNvSpPr/>
          <p:nvPr/>
        </p:nvSpPr>
        <p:spPr>
          <a:xfrm>
            <a:off x="4818888" y="499033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800600" y="451485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6: Activar y monitorear el flujo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276088" y="4862322"/>
            <a:ext cx="3429000" cy="795528"/>
          </a:xfrm>
          <a:prstGeom prst="rect">
            <a:avLst/>
          </a:prstGeom>
          <a:solidFill>
            <a:srgbClr val="FAFAFA"/>
          </a:solidFill>
          <a:ln w="15240">
            <a:solidFill>
              <a:srgbClr val="C8A415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49" name="Text 47"/>
          <p:cNvSpPr/>
          <p:nvPr/>
        </p:nvSpPr>
        <p:spPr>
          <a:xfrm>
            <a:off x="5349240" y="4917186"/>
            <a:ext cx="328269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del workflow activo. Cómo se verificó el funcionamiento.</a:t>
            </a:r>
            <a:endParaRPr lang="en-US" sz="900" dirty="0"/>
          </a:p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[Complete aquí]</a:t>
            </a:r>
            <a:endParaRPr lang="en-US" sz="900" dirty="0"/>
          </a:p>
        </p:txBody>
      </p:sp>
      <p:sp>
        <p:nvSpPr>
          <p:cNvPr id="50" name="Shape 2">
            <a:extLst>
              <a:ext uri="{FF2B5EF4-FFF2-40B4-BE49-F238E27FC236}">
                <a16:creationId xmlns:a16="http://schemas.microsoft.com/office/drawing/2014/main" id="{F17AF0FC-BA8F-A956-F2BE-E9A910406EE8}"/>
              </a:ext>
            </a:extLst>
          </p:cNvPr>
          <p:cNvSpPr/>
          <p:nvPr/>
        </p:nvSpPr>
        <p:spPr>
          <a:xfrm>
            <a:off x="0" y="6183630"/>
            <a:ext cx="9144000" cy="251460"/>
          </a:xfrm>
          <a:prstGeom prst="rect">
            <a:avLst/>
          </a:prstGeom>
          <a:solidFill>
            <a:srgbClr val="C9A8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1" name="Text 3">
            <a:extLst>
              <a:ext uri="{FF2B5EF4-FFF2-40B4-BE49-F238E27FC236}">
                <a16:creationId xmlns:a16="http://schemas.microsoft.com/office/drawing/2014/main" id="{D8D1300E-ED91-A446-647F-9AC0D2D6B6AC}"/>
              </a:ext>
            </a:extLst>
          </p:cNvPr>
          <p:cNvSpPr/>
          <p:nvPr/>
        </p:nvSpPr>
        <p:spPr>
          <a:xfrm>
            <a:off x="182880" y="618363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dirty="0">
                <a:solidFill>
                  <a:srgbClr val="004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Inteligentes 1 — Ingeniería de Sistemas y Computación — Universidad de Caldas   |   NIVEL 1— hasta 3.5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040130"/>
            <a:ext cx="8961120" cy="502920"/>
          </a:xfrm>
          <a:prstGeom prst="rect">
            <a:avLst/>
          </a:prstGeom>
          <a:solidFill>
            <a:srgbClr val="EA4B7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040130"/>
            <a:ext cx="842345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N8n — Video de Demostración y JSON del Flujo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498080" y="1661922"/>
            <a:ext cx="1280160" cy="256032"/>
          </a:xfrm>
          <a:prstGeom prst="rect">
            <a:avLst/>
          </a:prstGeom>
          <a:solidFill>
            <a:srgbClr val="EA4B7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7498080" y="166192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1  ≤ 3.5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698498"/>
            <a:ext cx="420624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274320" y="1698498"/>
            <a:ext cx="4206240" cy="384048"/>
          </a:xfrm>
          <a:prstGeom prst="rect">
            <a:avLst/>
          </a:prstGeom>
          <a:solidFill>
            <a:srgbClr val="EA4B7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365760" y="169849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Video: Creación y Ejecución del Flujo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155698"/>
            <a:ext cx="4023360" cy="1508760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65760" y="2155698"/>
            <a:ext cx="4023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dirty="0">
                <a:solidFill>
                  <a:srgbClr val="EA4B71"/>
                </a:solidFill>
              </a:rPr>
              <a:t>▶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65760" y="2155698"/>
            <a:ext cx="4023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8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(Insertar miniatura del video o pantallazos clave)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373761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del video: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98449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Duración: 3 – 8 minutos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418566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Mostrar creación del workflow completo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438683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Demostrar ejecución en tiempo real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58800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Narración explicando cada nodo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78917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Subir a YouTube / Drive e insertar enlace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5017770"/>
            <a:ext cx="4023360" cy="530352"/>
          </a:xfrm>
          <a:prstGeom prst="rect">
            <a:avLst/>
          </a:prstGeom>
          <a:solidFill>
            <a:srgbClr val="FAFAFA"/>
          </a:solidFill>
          <a:ln w="15240">
            <a:solidFill>
              <a:srgbClr val="C8A415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438912" y="5072634"/>
            <a:ext cx="387705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URL del video: [Pegar enlace aquí]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1698498"/>
            <a:ext cx="411480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4754880" y="1698498"/>
            <a:ext cx="4114800" cy="384048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4846320" y="169849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}  JSON del Flujo N8n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46320" y="2137410"/>
            <a:ext cx="3931920" cy="2560320"/>
          </a:xfrm>
          <a:prstGeom prst="rect">
            <a:avLst/>
          </a:prstGeom>
          <a:solidFill>
            <a:srgbClr val="1E1E1E"/>
          </a:solidFill>
          <a:ln w="10160">
            <a:solidFill>
              <a:srgbClr val="EA4B7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4937760" y="2228850"/>
            <a:ext cx="3749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8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Pegue aquí el JSON exportado de N8n
</a:t>
            </a: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</a:t>
            </a: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</a:t>
            </a: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"Nombre del workflow",
</a:t>
            </a: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"nodes"</a:t>
            </a: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 ... ],
</a:t>
            </a: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"connections"</a:t>
            </a: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... }
}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46320" y="477088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Instrucciones de exportación: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46320" y="501777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N8n → Menú ⋮ → Download → JSON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46320" y="522808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Adjuntar archivo en el repositorio Git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46320" y="543839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Ruta sugerida: /workflow/flujo_principal.json</a:t>
            </a:r>
            <a:endParaRPr lang="en-US" sz="850" dirty="0"/>
          </a:p>
        </p:txBody>
      </p:sp>
      <p:sp>
        <p:nvSpPr>
          <p:cNvPr id="31" name="Shape 2">
            <a:extLst>
              <a:ext uri="{FF2B5EF4-FFF2-40B4-BE49-F238E27FC236}">
                <a16:creationId xmlns:a16="http://schemas.microsoft.com/office/drawing/2014/main" id="{6C4772E7-9E3A-7A3D-61EE-C7C479F3350E}"/>
              </a:ext>
            </a:extLst>
          </p:cNvPr>
          <p:cNvSpPr/>
          <p:nvPr/>
        </p:nvSpPr>
        <p:spPr>
          <a:xfrm>
            <a:off x="0" y="6183630"/>
            <a:ext cx="9144000" cy="251460"/>
          </a:xfrm>
          <a:prstGeom prst="rect">
            <a:avLst/>
          </a:prstGeom>
          <a:solidFill>
            <a:srgbClr val="C9A8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3EBD9BD1-E686-DCCB-D689-04692F6CC9DA}"/>
              </a:ext>
            </a:extLst>
          </p:cNvPr>
          <p:cNvSpPr/>
          <p:nvPr/>
        </p:nvSpPr>
        <p:spPr>
          <a:xfrm>
            <a:off x="182880" y="618363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dirty="0">
                <a:solidFill>
                  <a:srgbClr val="004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Inteligentes 1 — Ingeniería de Sistemas y Computación — Universidad de Caldas   |   NIVEL 1 — hasta 3.5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251" y="1026882"/>
            <a:ext cx="9023498" cy="529413"/>
          </a:xfrm>
          <a:prstGeom prst="rect">
            <a:avLst/>
          </a:prstGeom>
          <a:solidFill>
            <a:srgbClr val="27A99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34571" y="1026882"/>
            <a:ext cx="8482088" cy="529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LangChain — Arquitectura del Sistema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498080" y="1661922"/>
            <a:ext cx="1280160" cy="256032"/>
          </a:xfrm>
          <a:prstGeom prst="rect">
            <a:avLst/>
          </a:prstGeom>
          <a:solidFill>
            <a:srgbClr val="27A99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7498080" y="166192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2  ≤ 4.5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163449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27A9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Principales de la Implementación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064258"/>
            <a:ext cx="4160520" cy="1719072"/>
          </a:xfrm>
          <a:prstGeom prst="rect">
            <a:avLst/>
          </a:prstGeom>
          <a:solidFill>
            <a:srgbClr val="1A4A6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274320" y="2064258"/>
            <a:ext cx="4160520" cy="365760"/>
          </a:xfrm>
          <a:prstGeom prst="rect">
            <a:avLst/>
          </a:prstGeom>
          <a:solidFill>
            <a:srgbClr val="27A99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65760" y="206425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LLM — Modelo de Lenguaje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484882"/>
            <a:ext cx="3977640" cy="1207008"/>
          </a:xfrm>
          <a:prstGeom prst="rect">
            <a:avLst/>
          </a:prstGeom>
          <a:solidFill>
            <a:srgbClr val="FAFAFA"/>
          </a:solidFill>
          <a:ln w="15240">
            <a:solidFill>
              <a:srgbClr val="C8A415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38912" y="2539746"/>
            <a:ext cx="383133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utilizado:</a:t>
            </a:r>
            <a:endParaRPr lang="en-US" sz="850" dirty="0"/>
          </a:p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GPT-4o  □ Claude 3  □ Llama 3</a:t>
            </a:r>
            <a:endParaRPr lang="en-US" sz="850" dirty="0"/>
          </a:p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Gemini  □ Otro: ___</a:t>
            </a:r>
            <a:endParaRPr lang="en-US" sz="850" dirty="0"/>
          </a:p>
          <a:p>
            <a:endParaRPr lang="en-US" sz="850" dirty="0"/>
          </a:p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(temperatura, max_tokens):</a:t>
            </a:r>
            <a:endParaRPr lang="en-US" sz="850" dirty="0"/>
          </a:p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[Complete aquí]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09160" y="2064258"/>
            <a:ext cx="4160520" cy="1719072"/>
          </a:xfrm>
          <a:prstGeom prst="rect">
            <a:avLst/>
          </a:prstGeom>
          <a:solidFill>
            <a:srgbClr val="1A3A5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4709160" y="2064258"/>
            <a:ext cx="4160520" cy="365760"/>
          </a:xfrm>
          <a:prstGeom prst="rect">
            <a:avLst/>
          </a:prstGeom>
          <a:solidFill>
            <a:srgbClr val="27A99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800600" y="206425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ChatPromptTemplate — Plantilla de Prompts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2484882"/>
            <a:ext cx="3977640" cy="1207008"/>
          </a:xfrm>
          <a:prstGeom prst="rect">
            <a:avLst/>
          </a:prstGeom>
          <a:solidFill>
            <a:srgbClr val="FAFAFA"/>
          </a:solidFill>
          <a:ln w="15240">
            <a:solidFill>
              <a:srgbClr val="C8A415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4873752" y="2539746"/>
            <a:ext cx="383133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prompt:</a:t>
            </a:r>
            <a:endParaRPr lang="en-US" sz="850" dirty="0"/>
          </a:p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System message: [complete]</a:t>
            </a:r>
            <a:endParaRPr lang="en-US" sz="850" dirty="0"/>
          </a:p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Human template: [complete]</a:t>
            </a:r>
            <a:endParaRPr lang="en-US" sz="850" dirty="0"/>
          </a:p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Variables de entrada: [complete]</a:t>
            </a:r>
            <a:endParaRPr lang="en-US" sz="850" dirty="0"/>
          </a:p>
          <a:p>
            <a:endParaRPr lang="en-US" sz="850" dirty="0"/>
          </a:p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uso en código:</a:t>
            </a:r>
            <a:endParaRPr lang="en-US" sz="850" dirty="0"/>
          </a:p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[Complete aquí]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3938778"/>
            <a:ext cx="4160520" cy="1719072"/>
          </a:xfrm>
          <a:prstGeom prst="rect">
            <a:avLst/>
          </a:prstGeom>
          <a:solidFill>
            <a:srgbClr val="0E4D4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274320" y="3938778"/>
            <a:ext cx="4160520" cy="365760"/>
          </a:xfrm>
          <a:prstGeom prst="rect">
            <a:avLst/>
          </a:prstGeom>
          <a:solidFill>
            <a:srgbClr val="27A99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365760" y="393877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Tools — Herramientas del Agente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359402"/>
            <a:ext cx="3977640" cy="1207008"/>
          </a:xfrm>
          <a:prstGeom prst="rect">
            <a:avLst/>
          </a:prstGeom>
          <a:solidFill>
            <a:srgbClr val="FAFAFA"/>
          </a:solidFill>
          <a:ln w="15240">
            <a:solidFill>
              <a:srgbClr val="C8A415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38912" y="4414266"/>
            <a:ext cx="383133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implementadas:</a:t>
            </a:r>
            <a:endParaRPr lang="en-US" sz="850" dirty="0"/>
          </a:p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Búsqueda web  □ Base de datos</a:t>
            </a:r>
            <a:endParaRPr lang="en-US" sz="850" dirty="0"/>
          </a:p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API externa   □ Calculadora</a:t>
            </a:r>
            <a:endParaRPr lang="en-US" sz="850" dirty="0"/>
          </a:p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Custom tool: ___</a:t>
            </a:r>
            <a:endParaRPr lang="en-US" sz="850" dirty="0"/>
          </a:p>
          <a:p>
            <a:endParaRPr lang="en-US" sz="850" dirty="0"/>
          </a:p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 de elección:</a:t>
            </a:r>
            <a:endParaRPr lang="en-US" sz="850" dirty="0"/>
          </a:p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[Complete aquí]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09160" y="3938778"/>
            <a:ext cx="4160520" cy="1719072"/>
          </a:xfrm>
          <a:prstGeom prst="rect">
            <a:avLst/>
          </a:prstGeom>
          <a:solidFill>
            <a:srgbClr val="3D1A6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4709160" y="3938778"/>
            <a:ext cx="4160520" cy="365760"/>
          </a:xfrm>
          <a:prstGeom prst="rect">
            <a:avLst/>
          </a:prstGeom>
          <a:solidFill>
            <a:srgbClr val="27A99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4800600" y="393877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Chain / Agent — Cadena de Razonamiento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00600" y="4359402"/>
            <a:ext cx="3977640" cy="1207008"/>
          </a:xfrm>
          <a:prstGeom prst="rect">
            <a:avLst/>
          </a:prstGeom>
          <a:solidFill>
            <a:srgbClr val="FAFAFA"/>
          </a:solidFill>
          <a:ln w="15240">
            <a:solidFill>
              <a:srgbClr val="C8A415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4873752" y="4414266"/>
            <a:ext cx="383133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cadena:</a:t>
            </a:r>
            <a:endParaRPr lang="en-US" sz="850" dirty="0"/>
          </a:p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LLMChain  □ SequentialChain</a:t>
            </a:r>
            <a:endParaRPr lang="en-US" sz="850" dirty="0"/>
          </a:p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AgentExecutor  □ LCEL</a:t>
            </a:r>
            <a:endParaRPr lang="en-US" sz="850" dirty="0"/>
          </a:p>
          <a:p>
            <a:endParaRPr lang="en-US" sz="850" dirty="0"/>
          </a:p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del flujo de razonamiento:</a:t>
            </a:r>
            <a:endParaRPr lang="en-US" sz="850" dirty="0"/>
          </a:p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[Complete aquí]</a:t>
            </a:r>
            <a:endParaRPr lang="en-US" sz="850" dirty="0"/>
          </a:p>
        </p:txBody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01AC7AD8-17B9-8C2D-0F3C-37066759A157}"/>
              </a:ext>
            </a:extLst>
          </p:cNvPr>
          <p:cNvSpPr/>
          <p:nvPr/>
        </p:nvSpPr>
        <p:spPr>
          <a:xfrm>
            <a:off x="0" y="6183630"/>
            <a:ext cx="9144000" cy="251460"/>
          </a:xfrm>
          <a:prstGeom prst="rect">
            <a:avLst/>
          </a:prstGeom>
          <a:solidFill>
            <a:srgbClr val="C9A8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Text 3">
            <a:extLst>
              <a:ext uri="{FF2B5EF4-FFF2-40B4-BE49-F238E27FC236}">
                <a16:creationId xmlns:a16="http://schemas.microsoft.com/office/drawing/2014/main" id="{D2F41814-3CAA-050A-F331-8B8862BF8C91}"/>
              </a:ext>
            </a:extLst>
          </p:cNvPr>
          <p:cNvSpPr/>
          <p:nvPr/>
        </p:nvSpPr>
        <p:spPr>
          <a:xfrm>
            <a:off x="182880" y="618363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dirty="0">
                <a:solidFill>
                  <a:srgbClr val="004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Inteligentes 1 — Ingeniería de Sistemas y Computación — Universidad de Caldas   |   NIVEL 2 — hasta 4.5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972189"/>
            <a:ext cx="8961120" cy="526877"/>
          </a:xfrm>
          <a:prstGeom prst="rect">
            <a:avLst/>
          </a:prstGeom>
          <a:solidFill>
            <a:srgbClr val="00663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972189"/>
            <a:ext cx="8423453" cy="526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|  LangChain — Código, Cadena de Pensamiento y Persistencia (RAG)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6183630"/>
            <a:ext cx="9144000" cy="251460"/>
          </a:xfrm>
          <a:prstGeom prst="rect">
            <a:avLst/>
          </a:prstGeom>
          <a:solidFill>
            <a:srgbClr val="C9A8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182880" y="618363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dirty="0">
                <a:solidFill>
                  <a:srgbClr val="004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Inteligentes 1 — Ingeniería de Sistemas y Computación — Universidad de Caldas   |   NIVEL 2 — hasta 4.5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498080" y="1643634"/>
            <a:ext cx="1371600" cy="246888"/>
          </a:xfrm>
          <a:prstGeom prst="rect">
            <a:avLst/>
          </a:prstGeom>
          <a:solidFill>
            <a:srgbClr val="27A99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7498080" y="1643634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2  ≤ 4.5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643634"/>
            <a:ext cx="4846320" cy="4023360"/>
          </a:xfrm>
          <a:prstGeom prst="rect">
            <a:avLst/>
          </a:prstGeom>
          <a:solidFill>
            <a:srgbClr val="1E1E1E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274320" y="1643634"/>
            <a:ext cx="4846320" cy="292608"/>
          </a:xfrm>
          <a:prstGeom prst="rect">
            <a:avLst/>
          </a:prstGeom>
          <a:solidFill>
            <a:srgbClr val="007AC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365760" y="164363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Fragmento de Código — LangChain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1981962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8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langchain_core.prompts </a:t>
            </a:r>
            <a:r>
              <a:rPr lang="en-US" sz="8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ChatPromptTemplate
</a:t>
            </a:r>
            <a:r>
              <a:rPr lang="en-US" sz="8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langchain_openai </a:t>
            </a:r>
            <a:r>
              <a:rPr lang="en-US" sz="8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ChatOpenAI
</a:t>
            </a:r>
            <a:r>
              <a:rPr lang="en-US" sz="8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✏️ Reemplace con su prompt real
</a:t>
            </a: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= ChatPromptTemplate.</a:t>
            </a: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from_messages</a:t>
            </a: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
</a:t>
            </a: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("system"</a:t>
            </a: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"Su rol aquí..."),
</a:t>
            </a: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("human"</a:t>
            </a: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"{input}"),
])
</a:t>
            </a: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= ChatOpenAI</a:t>
            </a: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(model=</a:t>
            </a: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"gpt-4o"</a:t>
            </a: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temperature=</a:t>
            </a:r>
            <a:r>
              <a:rPr lang="en-US" sz="8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</a:t>
            </a: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chain = prompt | llm
</a:t>
            </a:r>
            <a:r>
              <a:rPr lang="en-US" sz="8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✏️ Complete con su lógica de agente
</a:t>
            </a: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chain.</a:t>
            </a: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</a:t>
            </a: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({"input": "..."})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349240" y="1643634"/>
            <a:ext cx="3520440" cy="188366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5349240" y="1643634"/>
            <a:ext cx="3520440" cy="347472"/>
          </a:xfrm>
          <a:prstGeom prst="rect">
            <a:avLst/>
          </a:prstGeom>
          <a:solidFill>
            <a:srgbClr val="7B5E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5440680" y="1643634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Cadena de Pensamiento (CoT)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40680" y="2045970"/>
            <a:ext cx="3337560" cy="1316736"/>
          </a:xfrm>
          <a:prstGeom prst="rect">
            <a:avLst/>
          </a:prstGeom>
          <a:solidFill>
            <a:srgbClr val="FAFAFA"/>
          </a:solidFill>
          <a:ln w="13970">
            <a:solidFill>
              <a:srgbClr val="C9A800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5513832" y="2109978"/>
            <a:ext cx="319125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¿Aplica reasoning paso a paso?</a:t>
            </a:r>
            <a:endParaRPr lang="en-US" sz="900" dirty="0"/>
          </a:p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Sí  □ No</a:t>
            </a:r>
            <a:endParaRPr lang="en-US" sz="900" dirty="0"/>
          </a:p>
          <a:p>
            <a:endParaRPr lang="en-US" sz="900" dirty="0"/>
          </a:p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usada:</a:t>
            </a:r>
            <a:endParaRPr lang="en-US" sz="900" dirty="0"/>
          </a:p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Zero-shot CoT  □ Few-shot  □ ReAct</a:t>
            </a:r>
            <a:endParaRPr lang="en-US" sz="900" dirty="0"/>
          </a:p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Tree of Thought  □ Otra: ___</a:t>
            </a:r>
            <a:endParaRPr lang="en-US" sz="900" dirty="0"/>
          </a:p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[Explique cómo se implementa]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349240" y="3655314"/>
            <a:ext cx="35204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5349240" y="3655314"/>
            <a:ext cx="3520440" cy="347472"/>
          </a:xfrm>
          <a:prstGeom prst="rect">
            <a:avLst/>
          </a:prstGeom>
          <a:solidFill>
            <a:srgbClr val="1A6B5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5440680" y="3655314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Persistencia y RAG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40680" y="4057650"/>
            <a:ext cx="3337560" cy="1536192"/>
          </a:xfrm>
          <a:prstGeom prst="rect">
            <a:avLst/>
          </a:prstGeom>
          <a:solidFill>
            <a:srgbClr val="FAFAFA"/>
          </a:solidFill>
          <a:ln w="13970">
            <a:solidFill>
              <a:srgbClr val="C9A800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5513832" y="4121658"/>
            <a:ext cx="3191256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¿Aplica RAG o memoria persistente?</a:t>
            </a:r>
            <a:endParaRPr lang="en-US" sz="900" dirty="0"/>
          </a:p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Sí  □ No</a:t>
            </a:r>
            <a:endParaRPr lang="en-US" sz="900" dirty="0"/>
          </a:p>
          <a:p>
            <a:endParaRPr lang="en-US" sz="900" dirty="0"/>
          </a:p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store: □ FAISS □ Chroma □ Otro: ___</a:t>
            </a:r>
            <a:endParaRPr lang="en-US" sz="900" dirty="0"/>
          </a:p>
          <a:p>
            <a:endParaRPr lang="en-US" sz="900" dirty="0"/>
          </a:p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indexados: [complete]</a:t>
            </a:r>
            <a:endParaRPr lang="en-US" sz="900" dirty="0"/>
          </a:p>
          <a:p>
            <a:endParaRPr lang="en-US" sz="900" dirty="0"/>
          </a:p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retrieval: [complete]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57250"/>
            <a:ext cx="9144000" cy="658368"/>
          </a:xfrm>
          <a:prstGeom prst="rect">
            <a:avLst/>
          </a:prstGeom>
          <a:solidFill>
            <a:srgbClr val="27A99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85725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|  LangChain — Video de Funcionamiento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-14125" y="6172200"/>
            <a:ext cx="9144000" cy="251460"/>
          </a:xfrm>
          <a:prstGeom prst="rect">
            <a:avLst/>
          </a:prstGeom>
          <a:solidFill>
            <a:srgbClr val="C9A8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168755" y="617220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dirty="0">
                <a:solidFill>
                  <a:srgbClr val="004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Inteligentes 1 — Ingeniería de Sistemas y Computación — Universidad de Caldas   |   NIVEL 2 — hasta 4.5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498080" y="1643634"/>
            <a:ext cx="1371600" cy="246888"/>
          </a:xfrm>
          <a:prstGeom prst="rect">
            <a:avLst/>
          </a:prstGeom>
          <a:solidFill>
            <a:srgbClr val="27A99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7498080" y="1643634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2  ≤ 4.5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371600" y="1707642"/>
            <a:ext cx="6400800" cy="3310128"/>
          </a:xfrm>
          <a:prstGeom prst="rect">
            <a:avLst/>
          </a:prstGeom>
          <a:solidFill>
            <a:srgbClr val="111111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1371600" y="1707642"/>
            <a:ext cx="6400800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000" dirty="0">
                <a:solidFill>
                  <a:srgbClr val="27A99E"/>
                </a:solidFill>
              </a:rPr>
              <a:t>▶</a:t>
            </a:r>
            <a:endParaRPr lang="en-US" sz="7000" dirty="0"/>
          </a:p>
        </p:txBody>
      </p:sp>
      <p:sp>
        <p:nvSpPr>
          <p:cNvPr id="10" name="Text 8"/>
          <p:cNvSpPr/>
          <p:nvPr/>
        </p:nvSpPr>
        <p:spPr>
          <a:xfrm>
            <a:off x="1371600" y="1707642"/>
            <a:ext cx="6400800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(Inserte miniatura o screenshot del video de LangChain)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371600" y="5109210"/>
            <a:ext cx="6400800" cy="475488"/>
          </a:xfrm>
          <a:prstGeom prst="rect">
            <a:avLst/>
          </a:prstGeom>
          <a:solidFill>
            <a:srgbClr val="FAFAFA"/>
          </a:solidFill>
          <a:ln w="13970">
            <a:solidFill>
              <a:srgbClr val="C9A800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1444752" y="5173218"/>
            <a:ext cx="625449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URL del video LangChain: [Pegar enlace — YouTube / Drive]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5484114"/>
            <a:ext cx="2011680" cy="347472"/>
          </a:xfrm>
          <a:prstGeom prst="rect">
            <a:avLst/>
          </a:prstGeom>
          <a:solidFill>
            <a:srgbClr val="27A99E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274320" y="5484114"/>
            <a:ext cx="20116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 Duración:</a:t>
            </a:r>
            <a:endParaRPr lang="en-US" sz="750" dirty="0"/>
          </a:p>
          <a:p>
            <a:pPr algn="ctr"/>
            <a:r>
              <a:rPr lang="en-US" sz="7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– 10 min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423160" y="5484114"/>
            <a:ext cx="2011680" cy="347472"/>
          </a:xfrm>
          <a:prstGeom prst="rect">
            <a:avLst/>
          </a:prstGeom>
          <a:solidFill>
            <a:srgbClr val="27A99E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2423160" y="5484114"/>
            <a:ext cx="20116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Mostrar:</a:t>
            </a:r>
            <a:endParaRPr lang="en-US" sz="750" dirty="0"/>
          </a:p>
          <a:p>
            <a:pPr algn="ctr"/>
            <a:r>
              <a:rPr lang="en-US" sz="7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real del agente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572000" y="5484114"/>
            <a:ext cx="2011680" cy="347472"/>
          </a:xfrm>
          <a:prstGeom prst="rect">
            <a:avLst/>
          </a:prstGeom>
          <a:solidFill>
            <a:srgbClr val="27A99E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4572000" y="5484114"/>
            <a:ext cx="20116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Narrar:</a:t>
            </a:r>
            <a:endParaRPr lang="en-US" sz="750" dirty="0"/>
          </a:p>
          <a:p>
            <a:pPr algn="ctr"/>
            <a:r>
              <a:rPr lang="en-US" sz="7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componente LangChain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720840" y="5484114"/>
            <a:ext cx="2011680" cy="347472"/>
          </a:xfrm>
          <a:prstGeom prst="rect">
            <a:avLst/>
          </a:prstGeom>
          <a:solidFill>
            <a:srgbClr val="27A99E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6720840" y="5484114"/>
            <a:ext cx="20116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/>
            <a:r>
              <a:rPr lang="en-US" sz="7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Incluir:</a:t>
            </a:r>
            <a:endParaRPr lang="en-US" sz="750" dirty="0"/>
          </a:p>
          <a:p>
            <a:pPr algn="ctr"/>
            <a:r>
              <a:rPr lang="en-US" sz="7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de razonamiento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57250"/>
            <a:ext cx="9144000" cy="658368"/>
          </a:xfrm>
          <a:prstGeom prst="rect">
            <a:avLst/>
          </a:prstGeom>
          <a:solidFill>
            <a:srgbClr val="00663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85725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|  Técnica SI1 — Justificación y Diseño de la Estrategia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6156198"/>
            <a:ext cx="9144000" cy="251460"/>
          </a:xfrm>
          <a:prstGeom prst="rect">
            <a:avLst/>
          </a:prstGeom>
          <a:solidFill>
            <a:srgbClr val="C9A8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182880" y="6156198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dirty="0">
                <a:solidFill>
                  <a:srgbClr val="004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Inteligentes 1 — Ingeniería de Sistemas y Computación — Universidad de Caldas   |   NIVEL 3 — nota 5.0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498080" y="1643634"/>
            <a:ext cx="1371600" cy="246888"/>
          </a:xfrm>
          <a:prstGeom prst="rect">
            <a:avLst/>
          </a:prstGeom>
          <a:solidFill>
            <a:srgbClr val="00663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7498080" y="1643634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3  = 5.0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161620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Seleccione y desarrolle UNA o más técnicas de Sistemas Inteligentes 1: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954530"/>
            <a:ext cx="2834640" cy="1792224"/>
          </a:xfrm>
          <a:prstGeom prst="rect">
            <a:avLst/>
          </a:prstGeom>
          <a:solidFill>
            <a:srgbClr val="F8F9FA"/>
          </a:solidFill>
          <a:ln w="6350">
            <a:solidFill>
              <a:srgbClr val="DDDDDD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274320" y="1954530"/>
            <a:ext cx="2834640" cy="347472"/>
          </a:xfrm>
          <a:prstGeom prst="rect">
            <a:avLst/>
          </a:prstGeom>
          <a:solidFill>
            <a:srgbClr val="1D4E8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65760" y="195453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Búsqueda Informada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356866"/>
            <a:ext cx="2651760" cy="1298448"/>
          </a:xfrm>
          <a:prstGeom prst="rect">
            <a:avLst/>
          </a:prstGeom>
          <a:solidFill>
            <a:srgbClr val="FAFAFA"/>
          </a:solidFill>
          <a:ln w="13970">
            <a:solidFill>
              <a:srgbClr val="C9A800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38912" y="2420874"/>
            <a:ext cx="2505456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78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implementado:</a:t>
            </a:r>
            <a:endParaRPr lang="en-US" sz="780" dirty="0"/>
          </a:p>
          <a:p>
            <a:r>
              <a:rPr lang="en-US" sz="78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A*  □ Greedy Best-First  □ IDA*</a:t>
            </a:r>
            <a:endParaRPr lang="en-US" sz="780" dirty="0"/>
          </a:p>
          <a:p>
            <a:r>
              <a:rPr lang="en-US" sz="78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Beam Search  □ Otro: ___</a:t>
            </a:r>
            <a:endParaRPr lang="en-US" sz="780" dirty="0"/>
          </a:p>
          <a:p>
            <a:endParaRPr lang="en-US" sz="780" dirty="0"/>
          </a:p>
          <a:p>
            <a:r>
              <a:rPr lang="en-US" sz="78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heurística: [defina h(n)]</a:t>
            </a:r>
            <a:endParaRPr lang="en-US" sz="780" dirty="0"/>
          </a:p>
          <a:p>
            <a:r>
              <a:rPr lang="en-US" sz="78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de estados: [describa]</a:t>
            </a:r>
            <a:endParaRPr lang="en-US" sz="780" dirty="0"/>
          </a:p>
          <a:p>
            <a:r>
              <a:rPr lang="en-US" sz="78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Condición de meta: [describa]</a:t>
            </a:r>
            <a:endParaRPr lang="en-US" sz="780" dirty="0"/>
          </a:p>
          <a:p>
            <a:r>
              <a:rPr lang="en-US" sz="78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[Complete aquí]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3291840" y="1954530"/>
            <a:ext cx="2834640" cy="1792224"/>
          </a:xfrm>
          <a:prstGeom prst="rect">
            <a:avLst/>
          </a:prstGeom>
          <a:solidFill>
            <a:srgbClr val="F8F9FA"/>
          </a:solidFill>
          <a:ln w="6350">
            <a:solidFill>
              <a:srgbClr val="DDDDDD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3291840" y="1954530"/>
            <a:ext cx="2834640" cy="347472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3383280" y="195453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Búsqueda No Informada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383280" y="2356866"/>
            <a:ext cx="2651760" cy="1298448"/>
          </a:xfrm>
          <a:prstGeom prst="rect">
            <a:avLst/>
          </a:prstGeom>
          <a:solidFill>
            <a:srgbClr val="FAFAFA"/>
          </a:solidFill>
          <a:ln w="13970">
            <a:solidFill>
              <a:srgbClr val="C9A800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3456432" y="2420874"/>
            <a:ext cx="2505456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78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implementado:</a:t>
            </a:r>
            <a:endParaRPr lang="en-US" sz="780" dirty="0"/>
          </a:p>
          <a:p>
            <a:r>
              <a:rPr lang="en-US" sz="78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BFS  □ DFS  □ DLS</a:t>
            </a:r>
            <a:endParaRPr lang="en-US" sz="780" dirty="0"/>
          </a:p>
          <a:p>
            <a:r>
              <a:rPr lang="en-US" sz="78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IDDFS  □ Bidireccional  □ UCS</a:t>
            </a:r>
            <a:endParaRPr lang="en-US" sz="780" dirty="0"/>
          </a:p>
          <a:p>
            <a:endParaRPr lang="en-US" sz="780" dirty="0"/>
          </a:p>
          <a:p>
            <a:r>
              <a:rPr lang="en-US" sz="78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espacio de búsqueda:</a:t>
            </a:r>
            <a:endParaRPr lang="en-US" sz="780" dirty="0"/>
          </a:p>
          <a:p>
            <a:r>
              <a:rPr lang="en-US" sz="78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[grafos, árbol, matriz de adyacencia]</a:t>
            </a:r>
            <a:endParaRPr lang="en-US" sz="780" dirty="0"/>
          </a:p>
          <a:p>
            <a:r>
              <a:rPr lang="en-US" sz="78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terminación:</a:t>
            </a:r>
            <a:endParaRPr lang="en-US" sz="780" dirty="0"/>
          </a:p>
          <a:p>
            <a:r>
              <a:rPr lang="en-US" sz="78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[Complete aquí]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6309360" y="1954530"/>
            <a:ext cx="2834640" cy="1792224"/>
          </a:xfrm>
          <a:prstGeom prst="rect">
            <a:avLst/>
          </a:prstGeom>
          <a:solidFill>
            <a:srgbClr val="F8F9FA"/>
          </a:solidFill>
          <a:ln w="6350">
            <a:solidFill>
              <a:srgbClr val="DDDDDD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6309360" y="1954530"/>
            <a:ext cx="2834640" cy="347472"/>
          </a:xfrm>
          <a:prstGeom prst="rect">
            <a:avLst/>
          </a:prstGeom>
          <a:solidFill>
            <a:srgbClr val="7B2D8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6400800" y="195453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♟️  Juegos: Minimax / Poda α-β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00800" y="2356866"/>
            <a:ext cx="2651760" cy="1298448"/>
          </a:xfrm>
          <a:prstGeom prst="rect">
            <a:avLst/>
          </a:prstGeom>
          <a:solidFill>
            <a:srgbClr val="FAFAFA"/>
          </a:solidFill>
          <a:ln w="13970">
            <a:solidFill>
              <a:srgbClr val="C9A800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6473952" y="2420874"/>
            <a:ext cx="2505456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78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juego:</a:t>
            </a:r>
            <a:endParaRPr lang="en-US" sz="780" dirty="0"/>
          </a:p>
          <a:p>
            <a:r>
              <a:rPr lang="en-US" sz="78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Suma cero  □ Determinístico  □ 2 jugadores</a:t>
            </a:r>
            <a:endParaRPr lang="en-US" sz="780" dirty="0"/>
          </a:p>
          <a:p>
            <a:endParaRPr lang="en-US" sz="780" dirty="0"/>
          </a:p>
          <a:p>
            <a:r>
              <a:rPr lang="en-US" sz="78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Algoritmo:</a:t>
            </a:r>
            <a:endParaRPr lang="en-US" sz="780" dirty="0"/>
          </a:p>
          <a:p>
            <a:r>
              <a:rPr lang="en-US" sz="78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Minimax básico  □ Poda Alfa-Beta  □ Expectimax</a:t>
            </a:r>
            <a:endParaRPr lang="en-US" sz="780" dirty="0"/>
          </a:p>
          <a:p>
            <a:endParaRPr lang="en-US" sz="780" dirty="0"/>
          </a:p>
          <a:p>
            <a:r>
              <a:rPr lang="en-US" sz="78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de evaluación: [defina]</a:t>
            </a:r>
            <a:endParaRPr lang="en-US" sz="780" dirty="0"/>
          </a:p>
          <a:p>
            <a:r>
              <a:rPr lang="en-US" sz="78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 de búsqueda: ___</a:t>
            </a:r>
            <a:endParaRPr lang="en-US" sz="780" dirty="0"/>
          </a:p>
          <a:p>
            <a:r>
              <a:rPr lang="en-US" sz="78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[Complete aquí]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274320" y="3893058"/>
            <a:ext cx="2834640" cy="1792224"/>
          </a:xfrm>
          <a:prstGeom prst="rect">
            <a:avLst/>
          </a:prstGeom>
          <a:solidFill>
            <a:srgbClr val="F8F9FA"/>
          </a:solidFill>
          <a:ln w="6350">
            <a:solidFill>
              <a:srgbClr val="DDDDDD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274320" y="3893058"/>
            <a:ext cx="2834640" cy="347472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365760" y="389305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Aprendizaje por Refuerzo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4295394"/>
            <a:ext cx="2651760" cy="1298448"/>
          </a:xfrm>
          <a:prstGeom prst="rect">
            <a:avLst/>
          </a:prstGeom>
          <a:solidFill>
            <a:srgbClr val="FAFAFA"/>
          </a:solidFill>
          <a:ln w="13970">
            <a:solidFill>
              <a:srgbClr val="C9A800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438912" y="4359402"/>
            <a:ext cx="2505456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78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Algoritmo:</a:t>
            </a:r>
            <a:endParaRPr lang="en-US" sz="780" dirty="0"/>
          </a:p>
          <a:p>
            <a:r>
              <a:rPr lang="en-US" sz="78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Q-Learning  □ SARSA  □ DQN  □ PPO</a:t>
            </a:r>
            <a:endParaRPr lang="en-US" sz="780" dirty="0"/>
          </a:p>
          <a:p>
            <a:endParaRPr lang="en-US" sz="780" dirty="0"/>
          </a:p>
          <a:p>
            <a:r>
              <a:rPr lang="en-US" sz="78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Entorno: [nombre, librería: gymnasium/stable-baselines3]</a:t>
            </a:r>
            <a:endParaRPr lang="en-US" sz="780" dirty="0"/>
          </a:p>
          <a:p>
            <a:r>
              <a:rPr lang="en-US" sz="78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de estados: [describa]</a:t>
            </a:r>
            <a:endParaRPr lang="en-US" sz="780" dirty="0"/>
          </a:p>
          <a:p>
            <a:r>
              <a:rPr lang="en-US" sz="78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de recompensa: [defina]</a:t>
            </a:r>
            <a:endParaRPr lang="en-US" sz="780" dirty="0"/>
          </a:p>
          <a:p>
            <a:r>
              <a:rPr lang="en-US" sz="78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Métricas: recompensa acum., tasa conv.</a:t>
            </a:r>
            <a:endParaRPr lang="en-US" sz="780" dirty="0"/>
          </a:p>
          <a:p>
            <a:r>
              <a:rPr lang="en-US" sz="78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[Complete aquí]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3291840" y="3893058"/>
            <a:ext cx="2834640" cy="1792224"/>
          </a:xfrm>
          <a:prstGeom prst="rect">
            <a:avLst/>
          </a:prstGeom>
          <a:solidFill>
            <a:srgbClr val="F8F9FA"/>
          </a:solidFill>
          <a:ln w="6350">
            <a:solidFill>
              <a:srgbClr val="DDDDDD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3291840" y="3893058"/>
            <a:ext cx="2834640" cy="347472"/>
          </a:xfrm>
          <a:prstGeom prst="rect">
            <a:avLst/>
          </a:prstGeom>
          <a:solidFill>
            <a:srgbClr val="065F4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3383280" y="389305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  Metaheurísticas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383280" y="4295394"/>
            <a:ext cx="2651760" cy="1298448"/>
          </a:xfrm>
          <a:prstGeom prst="rect">
            <a:avLst/>
          </a:prstGeom>
          <a:solidFill>
            <a:srgbClr val="FAFAFA"/>
          </a:solidFill>
          <a:ln w="13970">
            <a:solidFill>
              <a:srgbClr val="C9A800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3456432" y="4359402"/>
            <a:ext cx="2505456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78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Técnica:</a:t>
            </a:r>
            <a:endParaRPr lang="en-US" sz="780" dirty="0"/>
          </a:p>
          <a:p>
            <a:r>
              <a:rPr lang="en-US" sz="78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Algoritmo Genético  □ PSO</a:t>
            </a:r>
            <a:endParaRPr lang="en-US" sz="780" dirty="0"/>
          </a:p>
          <a:p>
            <a:r>
              <a:rPr lang="en-US" sz="78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Simulated Annealing  □ ACO</a:t>
            </a:r>
            <a:endParaRPr lang="en-US" sz="780" dirty="0"/>
          </a:p>
          <a:p>
            <a:r>
              <a:rPr lang="en-US" sz="78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Búsqueda Tabú  □ Otro: ___</a:t>
            </a:r>
            <a:endParaRPr lang="en-US" sz="780" dirty="0"/>
          </a:p>
          <a:p>
            <a:endParaRPr lang="en-US" sz="780" dirty="0"/>
          </a:p>
          <a:p>
            <a:r>
              <a:rPr lang="en-US" sz="78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Representación de solución: [codificación]</a:t>
            </a:r>
            <a:endParaRPr lang="en-US" sz="780" dirty="0"/>
          </a:p>
          <a:p>
            <a:r>
              <a:rPr lang="en-US" sz="78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objetivo: [defina]</a:t>
            </a:r>
            <a:endParaRPr lang="en-US" sz="780" dirty="0"/>
          </a:p>
          <a:p>
            <a:r>
              <a:rPr lang="en-US" sz="78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Parámetros: [población, generaciones, etc.]</a:t>
            </a:r>
            <a:endParaRPr lang="en-US" sz="780" dirty="0"/>
          </a:p>
          <a:p>
            <a:r>
              <a:rPr lang="en-US" sz="78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[Complete aquí]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6309360" y="3893058"/>
            <a:ext cx="2834640" cy="1792224"/>
          </a:xfrm>
          <a:prstGeom prst="rect">
            <a:avLst/>
          </a:prstGeom>
          <a:solidFill>
            <a:srgbClr val="F8F9FA"/>
          </a:solidFill>
          <a:ln w="6350">
            <a:solidFill>
              <a:srgbClr val="DDDDDD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5" name="Shape 33"/>
          <p:cNvSpPr/>
          <p:nvPr/>
        </p:nvSpPr>
        <p:spPr>
          <a:xfrm>
            <a:off x="6309360" y="3893058"/>
            <a:ext cx="2834640" cy="347472"/>
          </a:xfrm>
          <a:prstGeom prst="rect">
            <a:avLst/>
          </a:prstGeom>
          <a:solidFill>
            <a:srgbClr val="1A3A5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6400800" y="389305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Combinación ≥ 2 Técnicas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00800" y="4295394"/>
            <a:ext cx="2651760" cy="1298448"/>
          </a:xfrm>
          <a:prstGeom prst="rect">
            <a:avLst/>
          </a:prstGeom>
          <a:solidFill>
            <a:srgbClr val="FAFAFA"/>
          </a:solidFill>
          <a:ln w="13970">
            <a:solidFill>
              <a:srgbClr val="C9A800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38" name="Text 36"/>
          <p:cNvSpPr/>
          <p:nvPr/>
        </p:nvSpPr>
        <p:spPr>
          <a:xfrm>
            <a:off x="6473952" y="4359402"/>
            <a:ext cx="2505456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78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combinadas:</a:t>
            </a:r>
            <a:endParaRPr lang="en-US" sz="780" dirty="0"/>
          </a:p>
          <a:p>
            <a:r>
              <a:rPr lang="en-US" sz="78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 + ___</a:t>
            </a:r>
            <a:endParaRPr lang="en-US" sz="780" dirty="0"/>
          </a:p>
          <a:p>
            <a:endParaRPr lang="en-US" sz="780" dirty="0"/>
          </a:p>
          <a:p>
            <a:r>
              <a:rPr lang="en-US" sz="78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 de la sinergia:</a:t>
            </a:r>
            <a:endParaRPr lang="en-US" sz="780" dirty="0"/>
          </a:p>
          <a:p>
            <a:r>
              <a:rPr lang="en-US" sz="78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[¿por qué combinadas mejoran el resultado?]</a:t>
            </a:r>
            <a:endParaRPr lang="en-US" sz="780" dirty="0"/>
          </a:p>
          <a:p>
            <a:endParaRPr lang="en-US" sz="780" dirty="0"/>
          </a:p>
          <a:p>
            <a:r>
              <a:rPr lang="en-US" sz="78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de integración:</a:t>
            </a:r>
            <a:endParaRPr lang="en-US" sz="780" dirty="0"/>
          </a:p>
          <a:p>
            <a:r>
              <a:rPr lang="en-US" sz="78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[describa cómo interactúan]</a:t>
            </a:r>
            <a:endParaRPr lang="en-US" sz="780" dirty="0"/>
          </a:p>
          <a:p>
            <a:r>
              <a:rPr lang="en-US" sz="78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[Complete aquí]</a:t>
            </a:r>
            <a:endParaRPr lang="en-US" sz="7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57250"/>
            <a:ext cx="9144000" cy="658368"/>
          </a:xfrm>
          <a:prstGeom prst="rect">
            <a:avLst/>
          </a:prstGeom>
          <a:solidFill>
            <a:srgbClr val="00663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85725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|  Técnica SI1 — Resultados, Métricas y Análisis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6236208"/>
            <a:ext cx="9144000" cy="251460"/>
          </a:xfrm>
          <a:prstGeom prst="rect">
            <a:avLst/>
          </a:prstGeom>
          <a:solidFill>
            <a:srgbClr val="C9A8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182880" y="6236208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dirty="0">
                <a:solidFill>
                  <a:srgbClr val="004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Inteligentes 1 — Ingeniería de Sistemas y Computación — Universidad de Caldas   |   NIVEL 3 — nota 5.0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498080" y="1643634"/>
            <a:ext cx="1371600" cy="246888"/>
          </a:xfrm>
          <a:prstGeom prst="rect">
            <a:avLst/>
          </a:prstGeom>
          <a:solidFill>
            <a:srgbClr val="00663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7498080" y="1643634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3  = 5.0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661922"/>
            <a:ext cx="416052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274320" y="1661922"/>
            <a:ext cx="4160520" cy="347472"/>
          </a:xfrm>
          <a:prstGeom prst="rect">
            <a:avLst/>
          </a:prstGeom>
          <a:solidFill>
            <a:srgbClr val="00663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365760" y="166192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Métricas de Evaluación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100834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Rendimiento de la técnica SI1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2347722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Métrica específica 1 (ej. nodos explorados): ___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2585466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Métrica específica 2 (ej. costo del camino): ___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2823210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Tiempo de ejecución: ___ ms / seg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3060954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Convergencia / Profundidad alcanzada: ___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3362706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Calidad del sistema integrado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3609594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Tiempo de respuesta end-to-end: ___ ms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3847338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Tasa de éxito en casos de prueba: ___ 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4085082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N.° de escenarios evaluados: ___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" y="4386834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Valor agregado vs Nivel 2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" y="4633722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Mejora cualitativa: [describa]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4871466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Mejora cuantitativa: ___ 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1480" y="5109210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Limitaciones identificadas: [describa]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661922"/>
            <a:ext cx="41148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4663440" y="1661922"/>
            <a:ext cx="4114800" cy="347472"/>
          </a:xfrm>
          <a:prstGeom prst="rect">
            <a:avLst/>
          </a:prstGeom>
          <a:solidFill>
            <a:srgbClr val="55555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4754880" y="166192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Visualización de Resultados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2064258"/>
            <a:ext cx="3931920" cy="1572768"/>
          </a:xfrm>
          <a:prstGeom prst="rect">
            <a:avLst/>
          </a:prstGeom>
          <a:solidFill>
            <a:srgbClr val="FAFAFA"/>
          </a:solidFill>
          <a:ln w="13970">
            <a:solidFill>
              <a:srgbClr val="C9A800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4828032" y="2128266"/>
            <a:ext cx="3785616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[Inserte gráfico o visualización:</a:t>
            </a:r>
            <a:endParaRPr lang="en-US" sz="900" dirty="0"/>
          </a:p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Árbol de búsqueda explorado</a:t>
            </a:r>
            <a:endParaRPr lang="en-US" sz="900" dirty="0"/>
          </a:p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Curva de aprendizaje (RL)</a:t>
            </a:r>
            <a:endParaRPr lang="en-US" sz="900" dirty="0"/>
          </a:p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Convergencia del algoritmo (metaheurística)</a:t>
            </a:r>
            <a:endParaRPr lang="en-US" sz="900" dirty="0"/>
          </a:p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Árbol Minimax con poda α-β</a:t>
            </a:r>
            <a:endParaRPr lang="en-US" sz="900" dirty="0"/>
          </a:p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Herramienta: matplotlib / networkx / pygame]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3893058"/>
            <a:ext cx="4114800" cy="17922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4663440" y="3893058"/>
            <a:ext cx="4114800" cy="347472"/>
          </a:xfrm>
          <a:prstGeom prst="rect">
            <a:avLst/>
          </a:prstGeom>
          <a:solidFill>
            <a:srgbClr val="00663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4754880" y="389305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Análisis Crítico e Integración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4295394"/>
            <a:ext cx="3931920" cy="1298448"/>
          </a:xfrm>
          <a:prstGeom prst="rect">
            <a:avLst/>
          </a:prstGeom>
          <a:solidFill>
            <a:srgbClr val="FAFAFA"/>
          </a:solidFill>
          <a:ln w="13970">
            <a:solidFill>
              <a:srgbClr val="C9A800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4828032" y="4359402"/>
            <a:ext cx="3785616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integra la técnica en el pipeline LangChain?</a:t>
            </a:r>
            <a:endParaRPr lang="en-US" sz="900" dirty="0"/>
          </a:p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ventajas aporta sobre el sistema del Nivel 2?</a:t>
            </a:r>
            <a:endParaRPr lang="en-US" sz="900" dirty="0"/>
          </a:p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limitaciones o casos borde se encontraron?</a:t>
            </a:r>
            <a:endParaRPr lang="en-US" sz="900" dirty="0"/>
          </a:p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mejoras propondría el equipo?</a:t>
            </a:r>
            <a:endParaRPr lang="en-US" sz="900" dirty="0"/>
          </a:p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[Complete con análisis del grupo]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032288"/>
            <a:ext cx="8869680" cy="508148"/>
          </a:xfrm>
          <a:prstGeom prst="rect">
            <a:avLst/>
          </a:prstGeom>
          <a:solidFill>
            <a:srgbClr val="C8A41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11480" y="1032288"/>
            <a:ext cx="8337499" cy="50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|  Conclusiones y Trabajo Futuro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680210"/>
            <a:ext cx="4114800" cy="3977640"/>
          </a:xfrm>
          <a:prstGeom prst="rect">
            <a:avLst/>
          </a:prstGeom>
          <a:solidFill>
            <a:srgbClr val="001A5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74320" y="1680210"/>
            <a:ext cx="4114800" cy="365760"/>
          </a:xfrm>
          <a:prstGeom prst="rect">
            <a:avLst/>
          </a:prstGeom>
          <a:solidFill>
            <a:srgbClr val="C8A41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65760" y="168021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Conclusiones del Proyecto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00834"/>
            <a:ext cx="3931920" cy="3438144"/>
          </a:xfrm>
          <a:prstGeom prst="rect">
            <a:avLst/>
          </a:prstGeom>
          <a:solidFill>
            <a:srgbClr val="FAFAFA"/>
          </a:solidFill>
          <a:ln w="15240">
            <a:solidFill>
              <a:srgbClr val="C8A415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438912" y="2155698"/>
            <a:ext cx="3785616" cy="3328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Conclusión sobre el Nivel 1 (N8n):</a:t>
            </a:r>
            <a:endParaRPr lang="en-US" sz="1000" dirty="0"/>
          </a:p>
          <a:p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[Complete aquí]</a:t>
            </a:r>
            <a:endParaRPr lang="en-US" sz="1000" dirty="0"/>
          </a:p>
          <a:p>
            <a:endParaRPr lang="en-US" sz="1000" dirty="0"/>
          </a:p>
          <a:p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Conclusión sobre el Nivel 2 (LangChain):</a:t>
            </a:r>
            <a:endParaRPr lang="en-US" sz="1000" dirty="0"/>
          </a:p>
          <a:p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[Complete aquí]</a:t>
            </a:r>
            <a:endParaRPr lang="en-US" sz="1000" dirty="0"/>
          </a:p>
          <a:p>
            <a:endParaRPr lang="en-US" sz="1000" dirty="0"/>
          </a:p>
          <a:p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Conclusión sobre la Técnica Racional:</a:t>
            </a:r>
            <a:endParaRPr lang="en-US" sz="1000" dirty="0"/>
          </a:p>
          <a:p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[Complete aquí]</a:t>
            </a:r>
            <a:endParaRPr lang="en-US" sz="1000" dirty="0"/>
          </a:p>
          <a:p>
            <a:endParaRPr lang="en-US" sz="1000" dirty="0"/>
          </a:p>
          <a:p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Aprendizajes del equipo:</a:t>
            </a:r>
            <a:endParaRPr lang="en-US" sz="1000" dirty="0"/>
          </a:p>
          <a:p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[Complete aquí]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680210"/>
            <a:ext cx="4114800" cy="3977640"/>
          </a:xfrm>
          <a:prstGeom prst="rect">
            <a:avLst/>
          </a:prstGeom>
          <a:solidFill>
            <a:srgbClr val="001A5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4754880" y="1680210"/>
            <a:ext cx="4114800" cy="365760"/>
          </a:xfrm>
          <a:prstGeom prst="rect">
            <a:avLst/>
          </a:prstGeom>
          <a:solidFill>
            <a:srgbClr val="27A99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846320" y="168021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Trabajo Futuro y Mejoras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2100834"/>
            <a:ext cx="3931920" cy="3438144"/>
          </a:xfrm>
          <a:prstGeom prst="rect">
            <a:avLst/>
          </a:prstGeom>
          <a:solidFill>
            <a:srgbClr val="FAFAFA"/>
          </a:solidFill>
          <a:ln w="15240">
            <a:solidFill>
              <a:srgbClr val="C8A415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919472" y="2155698"/>
            <a:ext cx="3785616" cy="3328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Mejora técnica propuesta:</a:t>
            </a:r>
            <a:endParaRPr lang="en-US" sz="1000" dirty="0"/>
          </a:p>
          <a:p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[Complete aquí]</a:t>
            </a:r>
            <a:endParaRPr lang="en-US" sz="1000" dirty="0"/>
          </a:p>
          <a:p>
            <a:endParaRPr lang="en-US" sz="1000" dirty="0"/>
          </a:p>
          <a:p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Escalabilidad del sistema:</a:t>
            </a:r>
            <a:endParaRPr lang="en-US" sz="1000" dirty="0"/>
          </a:p>
          <a:p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[Complete aquí]</a:t>
            </a:r>
            <a:endParaRPr lang="en-US" sz="1000" dirty="0"/>
          </a:p>
          <a:p>
            <a:endParaRPr lang="en-US" sz="1000" dirty="0"/>
          </a:p>
          <a:p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Aplicación real en producción:</a:t>
            </a:r>
            <a:endParaRPr lang="en-US" sz="1000" dirty="0"/>
          </a:p>
          <a:p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[Complete aquí]</a:t>
            </a:r>
            <a:endParaRPr lang="en-US" sz="1000" dirty="0"/>
          </a:p>
          <a:p>
            <a:endParaRPr lang="en-US" sz="1000" dirty="0"/>
          </a:p>
          <a:p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Línea de investigación futura:</a:t>
            </a:r>
            <a:endParaRPr lang="en-US" sz="1000" dirty="0"/>
          </a:p>
          <a:p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[Complete aquí]</a:t>
            </a:r>
            <a:endParaRPr lang="en-US" sz="1000" dirty="0"/>
          </a:p>
        </p:txBody>
      </p:sp>
      <p:sp>
        <p:nvSpPr>
          <p:cNvPr id="18" name="Shape 2">
            <a:extLst>
              <a:ext uri="{FF2B5EF4-FFF2-40B4-BE49-F238E27FC236}">
                <a16:creationId xmlns:a16="http://schemas.microsoft.com/office/drawing/2014/main" id="{6F12AD9D-B237-B64A-9CB6-48CC2950344E}"/>
              </a:ext>
            </a:extLst>
          </p:cNvPr>
          <p:cNvSpPr/>
          <p:nvPr/>
        </p:nvSpPr>
        <p:spPr>
          <a:xfrm>
            <a:off x="0" y="6236208"/>
            <a:ext cx="9144000" cy="251460"/>
          </a:xfrm>
          <a:prstGeom prst="rect">
            <a:avLst/>
          </a:prstGeom>
          <a:solidFill>
            <a:srgbClr val="C9A8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F58FD05A-CA7E-8E38-2DCB-FCDD51C82509}"/>
              </a:ext>
            </a:extLst>
          </p:cNvPr>
          <p:cNvSpPr/>
          <p:nvPr/>
        </p:nvSpPr>
        <p:spPr>
          <a:xfrm>
            <a:off x="182880" y="6236208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dirty="0">
                <a:solidFill>
                  <a:srgbClr val="004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Inteligentes 1 — Ingeniería de Sistemas y Computación — Universidad de Caldas   |   NIVEL 3 — nota 5.0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2085811"/>
            <a:ext cx="3810000" cy="4762500"/>
          </a:xfrm>
          <a:prstGeom prst="rect">
            <a:avLst/>
          </a:prstGeom>
        </p:spPr>
      </p:pic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2816650" y="2186327"/>
            <a:ext cx="4966446" cy="1398494"/>
          </a:xfrm>
        </p:spPr>
        <p:txBody>
          <a:bodyPr/>
          <a:lstStyle/>
          <a:p>
            <a:r>
              <a:rPr lang="es-ES_tradnl" sz="4800" b="1" dirty="0">
                <a:solidFill>
                  <a:schemeClr val="accent1">
                    <a:lumMod val="75000"/>
                  </a:schemeClr>
                </a:solidFill>
              </a:rPr>
              <a:t>Tutorial: Titulo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idx="1"/>
          </p:nvPr>
        </p:nvSpPr>
        <p:spPr>
          <a:xfrm>
            <a:off x="2816650" y="4154154"/>
            <a:ext cx="4966446" cy="1320800"/>
          </a:xfrm>
        </p:spPr>
        <p:txBody>
          <a:bodyPr/>
          <a:lstStyle/>
          <a:p>
            <a:r>
              <a:rPr lang="es-ES_tradnl" dirty="0">
                <a:solidFill>
                  <a:srgbClr val="0000FF"/>
                </a:solidFill>
              </a:rPr>
              <a:t>Nombre, código, correo, estudiantes</a:t>
            </a:r>
          </a:p>
          <a:p>
            <a:endParaRPr lang="es-ES_tradnl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843BA9-444C-0E4C-AC7B-7E35D24FEB8A}"/>
              </a:ext>
            </a:extLst>
          </p:cNvPr>
          <p:cNvSpPr txBox="1"/>
          <p:nvPr/>
        </p:nvSpPr>
        <p:spPr>
          <a:xfrm>
            <a:off x="6685280" y="60350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theme/theme1.xml><?xml version="1.0" encoding="utf-8"?>
<a:theme xmlns:a="http://schemas.openxmlformats.org/drawingml/2006/main" name="Plaza">
  <a:themeElements>
    <a:clrScheme name="Artículo">
      <a:dk1>
        <a:sysClr val="windowText" lastClr="000000"/>
      </a:dk1>
      <a:lt1>
        <a:sysClr val="window" lastClr="FFFFFF"/>
      </a:lt1>
      <a:dk2>
        <a:srgbClr val="212121"/>
      </a:dk2>
      <a:lt2>
        <a:srgbClr val="CDD4D7"/>
      </a:lt2>
      <a:accent1>
        <a:srgbClr val="1D86CD"/>
      </a:accent1>
      <a:accent2>
        <a:srgbClr val="732E9A"/>
      </a:accent2>
      <a:accent3>
        <a:srgbClr val="B50B1B"/>
      </a:accent3>
      <a:accent4>
        <a:srgbClr val="E8950E"/>
      </a:accent4>
      <a:accent5>
        <a:srgbClr val="55992B"/>
      </a:accent5>
      <a:accent6>
        <a:srgbClr val="2C9C89"/>
      </a:accent6>
      <a:hlink>
        <a:srgbClr val="EC4D4D"/>
      </a:hlink>
      <a:folHlink>
        <a:srgbClr val="F8CE8A"/>
      </a:folHlink>
    </a:clrScheme>
    <a:fontScheme name="Plaza">
      <a:majorFont>
        <a:latin typeface="Century Gothic"/>
        <a:ea typeface=""/>
        <a:cs typeface=""/>
        <a:font script="Jpan" typeface="メイリオ"/>
      </a:majorFont>
      <a:minorFont>
        <a:latin typeface="Century Gothic"/>
        <a:ea typeface=""/>
        <a:cs typeface=""/>
        <a:font script="Jpan" typeface="メイリオ"/>
      </a:minorFont>
    </a:fontScheme>
    <a:fmtScheme name="Plaza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60000"/>
                <a:satMod val="135000"/>
              </a:schemeClr>
            </a:gs>
            <a:gs pos="100000">
              <a:schemeClr val="phClr">
                <a:tint val="100000"/>
                <a:shade val="100000"/>
                <a:satMod val="13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0000"/>
                <a:satMod val="120000"/>
              </a:schemeClr>
            </a:gs>
            <a:gs pos="35000">
              <a:schemeClr val="phClr">
                <a:shade val="100000"/>
                <a:satMod val="150000"/>
              </a:schemeClr>
            </a:gs>
            <a:gs pos="70000">
              <a:schemeClr val="phClr">
                <a:tint val="100000"/>
                <a:shade val="100000"/>
                <a:satMod val="200000"/>
                <a:greenMod val="100000"/>
              </a:schemeClr>
            </a:gs>
            <a:gs pos="100000">
              <a:schemeClr val="phClr">
                <a:tint val="100000"/>
                <a:shade val="100000"/>
                <a:satMod val="250000"/>
                <a:greenMod val="100000"/>
              </a:schemeClr>
            </a:gs>
          </a:gsLst>
          <a:lin ang="162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190500" dist="63500" dir="5400000">
              <a:srgbClr val="FFFFFF">
                <a:alpha val="65000"/>
              </a:srgbClr>
            </a:innerShdw>
          </a:effectLst>
          <a:scene3d>
            <a:camera prst="orthographicFront">
              <a:rot lat="0" lon="0" rev="0"/>
            </a:camera>
            <a:lightRig rig="twoPt" dir="r">
              <a:rot lat="0" lon="0" rev="6000000"/>
            </a:lightRig>
          </a:scene3d>
          <a:sp3d prstMaterial="matte">
            <a:bevelT w="0" h="0" prst="relaxedInset"/>
          </a:sp3d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88900" dist="38100" dir="6600000" sx="101000" sy="101000" rotWithShape="0">
              <a:srgbClr val="000000">
                <a:alpha val="50000"/>
              </a:srgbClr>
            </a:outerShdw>
          </a:effectLst>
          <a:scene3d>
            <a:camera prst="perspectiveFront" fov="3000000"/>
            <a:lightRig rig="morning" dir="tl">
              <a:rot lat="0" lon="0" rev="1800000"/>
            </a:lightRig>
          </a:scene3d>
          <a:sp3d contourW="38100" prstMaterial="softEdge">
            <a:bevelT w="25400" h="38100"/>
            <a:contourClr>
              <a:schemeClr val="phClr">
                <a:tint val="6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Plaza.thmx</Template>
  <TotalTime>7074</TotalTime>
  <Words>1817</Words>
  <Application>Microsoft Office PowerPoint</Application>
  <PresentationFormat>Presentación en pantalla (4:3)</PresentationFormat>
  <Paragraphs>296</Paragraphs>
  <Slides>13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9" baseType="lpstr">
      <vt:lpstr>Arial</vt:lpstr>
      <vt:lpstr>Calibri</vt:lpstr>
      <vt:lpstr>Century Gothic</vt:lpstr>
      <vt:lpstr>Courier New</vt:lpstr>
      <vt:lpstr>Wingdings 2</vt:lpstr>
      <vt:lpstr>Plaza</vt:lpstr>
      <vt:lpstr>Datos estudiantes</vt:lpstr>
      <vt:lpstr>Introducción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Tutorial: Titulo</vt:lpstr>
    </vt:vector>
  </TitlesOfParts>
  <Manager/>
  <Company>Universidad de Zaragoza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Curso 2010-2011</dc:title>
  <dc:subject/>
  <dc:creator>Jose Angel Bañares Bañares</dc:creator>
  <cp:keywords/>
  <dc:description/>
  <cp:lastModifiedBy>AULATECH5 -fia</cp:lastModifiedBy>
  <cp:revision>159</cp:revision>
  <cp:lastPrinted>2022-10-05T13:39:46Z</cp:lastPrinted>
  <dcterms:created xsi:type="dcterms:W3CDTF">2010-09-20T07:20:35Z</dcterms:created>
  <dcterms:modified xsi:type="dcterms:W3CDTF">2026-05-29T03:24:25Z</dcterms:modified>
  <cp:category/>
</cp:coreProperties>
</file>